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89521" autoAdjust="0"/>
  </p:normalViewPr>
  <p:slideViewPr>
    <p:cSldViewPr snapToGrid="0" snapToObjects="1">
      <p:cViewPr varScale="1">
        <p:scale>
          <a:sx n="62" d="100"/>
          <a:sy n="62" d="100"/>
        </p:scale>
        <p:origin x="9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423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D14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6868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 Logistics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D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for Delivery Routes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937760" y="2907792"/>
            <a:ext cx="2286000" cy="64008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90672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SQL Analytics Project  ·  7 Task Modules  ·  41 Slides  ·  FedEx Global Dataset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4069080"/>
            <a:ext cx="1508760" cy="658368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069080"/>
            <a:ext cx="1508760" cy="65836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02536" y="4069080"/>
            <a:ext cx="1508760" cy="65836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0" name="Text 8"/>
          <p:cNvSpPr/>
          <p:nvPr/>
        </p:nvSpPr>
        <p:spPr>
          <a:xfrm>
            <a:off x="2002536" y="406908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Analysis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39312" y="4069080"/>
            <a:ext cx="1508760" cy="65836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2" name="Text 10"/>
          <p:cNvSpPr/>
          <p:nvPr/>
        </p:nvSpPr>
        <p:spPr>
          <a:xfrm>
            <a:off x="3639312" y="406908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76088" y="4069080"/>
            <a:ext cx="1508760" cy="658368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76088" y="4069080"/>
            <a:ext cx="1508760" cy="65836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12864" y="4069080"/>
            <a:ext cx="1508760" cy="65836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6" name="Text 14"/>
          <p:cNvSpPr/>
          <p:nvPr/>
        </p:nvSpPr>
        <p:spPr>
          <a:xfrm>
            <a:off x="6912864" y="406908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549640" y="4069080"/>
            <a:ext cx="1508760" cy="658368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4069080"/>
            <a:ext cx="1508760" cy="65836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186416" y="4069080"/>
            <a:ext cx="1508760" cy="658368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86416" y="4069080"/>
            <a:ext cx="1508760" cy="65836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0350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Manmohan Sai </a:t>
            </a:r>
            <a:r>
              <a:rPr lang="en-US" sz="1300" dirty="0" err="1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Anusuri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 Logistics Optimization — Datasets, Architecture &amp; Objectives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115568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148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5 Source Tables</a:t>
            </a:r>
            <a:endParaRPr lang="en-US" sz="1400" dirty="0">
              <a:latin typeface="Sitka Small Semibold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517904"/>
            <a:ext cx="5669280" cy="8595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17904"/>
            <a:ext cx="54864" cy="859536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9105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Sitka Small Semibold" pitchFamily="2" charset="0"/>
                <a:ea typeface="Consolas" pitchFamily="34" charset="-122"/>
                <a:cs typeface="Consolas" pitchFamily="34" charset="-120"/>
              </a:rPr>
              <a:t>fedex_</a:t>
            </a:r>
            <a:r>
              <a:rPr lang="en-US" sz="1200" b="1" dirty="0">
                <a:solidFill>
                  <a:srgbClr val="C00000"/>
                </a:solidFill>
                <a:latin typeface="Sitka Small Semibold" pitchFamily="2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150" dirty="0">
              <a:solidFill>
                <a:srgbClr val="C00000"/>
              </a:solidFill>
              <a:latin typeface="Sitka Small Semibold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" y="192024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Order_ID · Customer_ID · Order_Date · Route_ID · Warehouse_ID · Order_Amount · Delivery_Type ·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Payment_Mode</a:t>
            </a:r>
            <a:endParaRPr lang="en-US" sz="1100" dirty="0">
              <a:solidFill>
                <a:srgbClr val="0000FF"/>
              </a:solidFill>
              <a:latin typeface="Sitka Heading Semibold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2487168"/>
            <a:ext cx="5669280" cy="8595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487168"/>
            <a:ext cx="54864" cy="8595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5603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C000"/>
                </a:solidFill>
                <a:latin typeface="Sitka Small Semibold" pitchFamily="2" charset="0"/>
                <a:ea typeface="Consolas" pitchFamily="34" charset="-122"/>
                <a:cs typeface="Consolas" pitchFamily="34" charset="-120"/>
              </a:rPr>
              <a:t>fedex_routes</a:t>
            </a:r>
            <a:endParaRPr lang="en-US" sz="1150" dirty="0">
              <a:solidFill>
                <a:srgbClr val="FFC000"/>
              </a:solidFill>
              <a:latin typeface="Sitka Small Semibold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" y="2889504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Route_ID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·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Source_City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·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Source_Country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·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Destination_City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·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Destination_Country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·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Distance_KM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·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Avg_Transit_Time_Hours</a:t>
            </a:r>
            <a:endParaRPr lang="en-US" sz="1100" dirty="0">
              <a:solidFill>
                <a:srgbClr val="0000FF"/>
              </a:solidFill>
              <a:latin typeface="Sitka Heading Semibold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3456432"/>
            <a:ext cx="5669280" cy="8595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456432"/>
            <a:ext cx="54864" cy="85953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52958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0000"/>
                </a:solidFill>
                <a:latin typeface="Sitka Small Semibold" pitchFamily="2" charset="0"/>
                <a:ea typeface="Consolas" pitchFamily="34" charset="-122"/>
                <a:cs typeface="Consolas" pitchFamily="34" charset="-120"/>
              </a:rPr>
              <a:t>fedex_</a:t>
            </a:r>
            <a:r>
              <a:rPr lang="en-US" sz="1200" b="1" dirty="0">
                <a:solidFill>
                  <a:srgbClr val="FF0000"/>
                </a:solidFill>
                <a:latin typeface="Sitka Small Semibold" pitchFamily="2" charset="0"/>
                <a:ea typeface="Consolas" pitchFamily="34" charset="-122"/>
                <a:cs typeface="Consolas" pitchFamily="34" charset="-120"/>
              </a:rPr>
              <a:t>warehouses</a:t>
            </a:r>
            <a:endParaRPr lang="en-US" sz="1150" dirty="0">
              <a:solidFill>
                <a:srgbClr val="FF0000"/>
              </a:solidFill>
              <a:latin typeface="Sitka Small Semibold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5488" y="3858768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Warehouse_ID · City · Country · Capacity_per_day ·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Manager_Name</a:t>
            </a:r>
            <a:endParaRPr lang="en-US" sz="1100" dirty="0">
              <a:solidFill>
                <a:srgbClr val="0000FF"/>
              </a:solidFill>
              <a:latin typeface="Sitka Heading Semibold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4425696"/>
            <a:ext cx="5669280" cy="8595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4425696"/>
            <a:ext cx="54864" cy="85953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449884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Sitka Small Semibold" pitchFamily="2" charset="0"/>
                <a:ea typeface="Consolas" pitchFamily="34" charset="-122"/>
                <a:cs typeface="Consolas" pitchFamily="34" charset="-120"/>
              </a:rPr>
              <a:t>fedex_delivery_agents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5488" y="4828032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Agent_ID · Agent_Name · Zone · Zone_Country · Experience_Years ·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Avg_Rating</a:t>
            </a:r>
            <a:endParaRPr lang="en-US" sz="1100" dirty="0">
              <a:solidFill>
                <a:srgbClr val="0000FF"/>
              </a:solidFill>
              <a:latin typeface="Sitka Heading Semibold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040" y="5394960"/>
            <a:ext cx="5669280" cy="8595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5394960"/>
            <a:ext cx="54864" cy="859536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546811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F0"/>
                </a:solidFill>
                <a:latin typeface="Sitka Small Semibold" pitchFamily="2" charset="0"/>
                <a:ea typeface="Consolas" pitchFamily="34" charset="-122"/>
                <a:cs typeface="Consolas" pitchFamily="34" charset="-120"/>
              </a:rPr>
              <a:t>fedex_shipments</a:t>
            </a:r>
            <a:endParaRPr lang="en-US" sz="1200" dirty="0">
              <a:solidFill>
                <a:srgbClr val="00B0F0"/>
              </a:solidFill>
              <a:latin typeface="Sitka Small Semibold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5488" y="5797296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Shipment_ID · Order_ID · Agent_ID · Route_ID · Warehouse_ID · Pickup_Date · Delivery_Date · Delivery_Status · Delay_Hours ·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Delivery_Feedback</a:t>
            </a:r>
            <a:endParaRPr lang="en-US" sz="1100" dirty="0">
              <a:solidFill>
                <a:srgbClr val="0000FF"/>
              </a:solidFill>
              <a:latin typeface="Sitka Heading Semibold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17920" y="111556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Analysis Objectives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17920" y="1517904"/>
            <a:ext cx="457200" cy="530352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51790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84848" y="154533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>
              <a:solidFill>
                <a:srgbClr val="FFC000"/>
              </a:solidFill>
              <a:latin typeface="Sitka Small Semibold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784848" y="179222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Remove duplicates, fix NULLs, validate dates &amp; referential integrity</a:t>
            </a:r>
          </a:p>
        </p:txBody>
      </p:sp>
      <p:sp>
        <p:nvSpPr>
          <p:cNvPr id="31" name="Shape 29"/>
          <p:cNvSpPr/>
          <p:nvPr/>
        </p:nvSpPr>
        <p:spPr>
          <a:xfrm>
            <a:off x="6217920" y="2212848"/>
            <a:ext cx="457200" cy="530352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21284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84848" y="22402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C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Delay Analysis</a:t>
            </a:r>
          </a:p>
        </p:txBody>
      </p:sp>
      <p:sp>
        <p:nvSpPr>
          <p:cNvPr id="34" name="Text 32"/>
          <p:cNvSpPr/>
          <p:nvPr/>
        </p:nvSpPr>
        <p:spPr>
          <a:xfrm>
            <a:off x="6784848" y="248716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Measure delays with TIMESTAMPDIFF, rank with window functions</a:t>
            </a:r>
          </a:p>
        </p:txBody>
      </p:sp>
      <p:sp>
        <p:nvSpPr>
          <p:cNvPr id="35" name="Shape 33"/>
          <p:cNvSpPr/>
          <p:nvPr/>
        </p:nvSpPr>
        <p:spPr>
          <a:xfrm>
            <a:off x="6217920" y="2907792"/>
            <a:ext cx="457200" cy="530352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290779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84848" y="293522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C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Route Performance</a:t>
            </a:r>
          </a:p>
        </p:txBody>
      </p:sp>
      <p:sp>
        <p:nvSpPr>
          <p:cNvPr id="38" name="Text 36"/>
          <p:cNvSpPr/>
          <p:nvPr/>
        </p:nvSpPr>
        <p:spPr>
          <a:xfrm>
            <a:off x="6784848" y="318211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Efficiency ratio = Distance/Time, identify worst-performing routes</a:t>
            </a:r>
          </a:p>
        </p:txBody>
      </p:sp>
      <p:sp>
        <p:nvSpPr>
          <p:cNvPr id="39" name="Shape 37"/>
          <p:cNvSpPr/>
          <p:nvPr/>
        </p:nvSpPr>
        <p:spPr>
          <a:xfrm>
            <a:off x="6217920" y="3602736"/>
            <a:ext cx="457200" cy="530352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60273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84848" y="363016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C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Warehouse KPIs</a:t>
            </a:r>
          </a:p>
        </p:txBody>
      </p:sp>
      <p:sp>
        <p:nvSpPr>
          <p:cNvPr id="42" name="Text 40"/>
          <p:cNvSpPr/>
          <p:nvPr/>
        </p:nvSpPr>
        <p:spPr>
          <a:xfrm>
            <a:off x="6784848" y="387705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Top delayed hubs, CTE benchmarking, on-time ranking</a:t>
            </a:r>
          </a:p>
        </p:txBody>
      </p:sp>
      <p:sp>
        <p:nvSpPr>
          <p:cNvPr id="43" name="Shape 41"/>
          <p:cNvSpPr/>
          <p:nvPr/>
        </p:nvSpPr>
        <p:spPr>
          <a:xfrm>
            <a:off x="6217920" y="4297680"/>
            <a:ext cx="457200" cy="530352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429768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84848" y="432511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C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Agent Analytics</a:t>
            </a:r>
          </a:p>
        </p:txBody>
      </p:sp>
      <p:sp>
        <p:nvSpPr>
          <p:cNvPr id="46" name="Text 44"/>
          <p:cNvSpPr/>
          <p:nvPr/>
        </p:nvSpPr>
        <p:spPr>
          <a:xfrm>
            <a:off x="6784848" y="457200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Rank agents per route, flag below-85% performers</a:t>
            </a:r>
          </a:p>
        </p:txBody>
      </p:sp>
      <p:sp>
        <p:nvSpPr>
          <p:cNvPr id="47" name="Shape 45"/>
          <p:cNvSpPr/>
          <p:nvPr/>
        </p:nvSpPr>
        <p:spPr>
          <a:xfrm>
            <a:off x="6217920" y="4992624"/>
            <a:ext cx="457200" cy="530352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499262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784848" y="502005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C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Shipment Status</a:t>
            </a:r>
          </a:p>
        </p:txBody>
      </p:sp>
      <p:sp>
        <p:nvSpPr>
          <p:cNvPr id="50" name="Text 48"/>
          <p:cNvSpPr/>
          <p:nvPr/>
        </p:nvSpPr>
        <p:spPr>
          <a:xfrm>
            <a:off x="6784848" y="526694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Track stuck shipments, find bottlenecks &gt;120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hrs</a:t>
            </a:r>
            <a:endParaRPr lang="en-US" sz="1100" dirty="0">
              <a:solidFill>
                <a:srgbClr val="0000FF"/>
              </a:solidFill>
              <a:latin typeface="Sitka Heading Semibold" pitchFamily="2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217920" y="5687568"/>
            <a:ext cx="457200" cy="530352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568756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784848" y="571500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C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KPI Dashboard</a:t>
            </a:r>
          </a:p>
        </p:txBody>
      </p:sp>
      <p:sp>
        <p:nvSpPr>
          <p:cNvPr id="54" name="Text 52"/>
          <p:cNvSpPr/>
          <p:nvPr/>
        </p:nvSpPr>
        <p:spPr>
          <a:xfrm>
            <a:off x="6784848" y="596188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On-time %, avg delay, warehouse utilization across countries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Validation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integrity of all 5 FedEx tables before any analysis is performed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5669280" cy="1572768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43000"/>
            <a:ext cx="54864" cy="1572768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" y="1307592"/>
            <a:ext cx="310896" cy="310896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" y="1307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1307592"/>
            <a:ext cx="4956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48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Duplicate Detection &amp; Deletion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1709928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Identify and remove duplicate Order_IDs and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Shipment_IDs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using MIN() subquery</a:t>
            </a:r>
          </a:p>
        </p:txBody>
      </p:sp>
      <p:sp>
        <p:nvSpPr>
          <p:cNvPr id="13" name="Shape 11"/>
          <p:cNvSpPr/>
          <p:nvPr/>
        </p:nvSpPr>
        <p:spPr>
          <a:xfrm>
            <a:off x="6263640" y="1143000"/>
            <a:ext cx="5669280" cy="1572768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143000"/>
            <a:ext cx="54864" cy="15727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9944" y="1307592"/>
            <a:ext cx="310896" cy="310896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1307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30568" y="1307592"/>
            <a:ext cx="4956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NULL Delay_Hours Replacement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46520" y="1709928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Replace missing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Delay_Hours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with route-level average using UPDATE + JOIN</a:t>
            </a:r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5669280" cy="1572768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926080"/>
            <a:ext cx="54864" cy="15727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" y="3090672"/>
            <a:ext cx="310896" cy="310896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" y="3090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" y="3090672"/>
            <a:ext cx="4956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Date Format Conversion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2920" y="3493008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Convert Order_Date, Pickup_Date,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Delivery_Date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to YYYY-MM-DD HH:MM:SS</a:t>
            </a:r>
          </a:p>
        </p:txBody>
      </p:sp>
      <p:sp>
        <p:nvSpPr>
          <p:cNvPr id="25" name="Shape 23"/>
          <p:cNvSpPr/>
          <p:nvPr/>
        </p:nvSpPr>
        <p:spPr>
          <a:xfrm>
            <a:off x="6263640" y="2926080"/>
            <a:ext cx="5669280" cy="1572768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2926080"/>
            <a:ext cx="54864" cy="157276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9944" y="3090672"/>
            <a:ext cx="310896" cy="310896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9944" y="3090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30568" y="3090672"/>
            <a:ext cx="4956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Date Integrity Flag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46520" y="3493008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Flag records where Delivery_Date &lt;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Pickup_Date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as invalid</a:t>
            </a:r>
          </a:p>
        </p:txBody>
      </p:sp>
      <p:sp>
        <p:nvSpPr>
          <p:cNvPr id="31" name="Shape 29"/>
          <p:cNvSpPr/>
          <p:nvPr/>
        </p:nvSpPr>
        <p:spPr>
          <a:xfrm>
            <a:off x="320040" y="4681728"/>
            <a:ext cx="11521440" cy="1572768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681728"/>
            <a:ext cx="54864" cy="1572768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" y="4846320"/>
            <a:ext cx="310896" cy="310896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" y="4846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86968" y="4846320"/>
            <a:ext cx="10808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32D2D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Referential Integrity Checks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02920" y="5248656"/>
            <a:ext cx="11201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Validate all FK relationships: Orders↔Routes, Orders↔Warehouses,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Shipments↔Orders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/Agents/Routes/Warehouses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Duplicate Records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data cleaning — find duplicate Order_IDs and Shipment_IDs before deletion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320040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320040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Why Duplicates Are Dangerous</a:t>
            </a:r>
            <a:endParaRPr lang="en-US" sz="1200" dirty="0">
              <a:solidFill>
                <a:srgbClr val="C00000"/>
              </a:solidFill>
              <a:latin typeface="Sitka Small Semibold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9224" y="161848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Duplicate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Order_IDs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inflate order counts and skew revenue metrics</a:t>
            </a:r>
          </a:p>
        </p:txBody>
      </p:sp>
      <p:sp>
        <p:nvSpPr>
          <p:cNvPr id="13" name="Text 11"/>
          <p:cNvSpPr/>
          <p:nvPr/>
        </p:nvSpPr>
        <p:spPr>
          <a:xfrm>
            <a:off x="649224" y="213055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Duplicate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Shipment_IDs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cause incorrect delay averages</a:t>
            </a:r>
          </a:p>
        </p:txBody>
      </p:sp>
      <p:sp>
        <p:nvSpPr>
          <p:cNvPr id="15" name="Text 13"/>
          <p:cNvSpPr/>
          <p:nvPr/>
        </p:nvSpPr>
        <p:spPr>
          <a:xfrm>
            <a:off x="649224" y="264261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HAVING COUNT(*) &gt; 1 filters only groups that appear more than once</a:t>
            </a:r>
          </a:p>
        </p:txBody>
      </p:sp>
      <p:sp>
        <p:nvSpPr>
          <p:cNvPr id="17" name="Text 15"/>
          <p:cNvSpPr/>
          <p:nvPr/>
        </p:nvSpPr>
        <p:spPr>
          <a:xfrm>
            <a:off x="649224" y="315468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GROUP BY collapses all rows with same ID into one group first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" y="366674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We identify BEFORE deleting — always preview what will be removed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32004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Identify Duplicate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Order_IDs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AS duplicate_count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fedex_orders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Identify Duplicate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Shipment_IDs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Shipment_ID,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AS duplicate_count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Shipment_ID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</p:txBody>
      </p:sp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978CFB36-DC29-CE71-AA44-E1EAC7AD5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096987"/>
              </p:ext>
            </p:extLst>
          </p:nvPr>
        </p:nvGraphicFramePr>
        <p:xfrm>
          <a:off x="374904" y="4754880"/>
          <a:ext cx="4517136" cy="731520"/>
        </p:xfrm>
        <a:graphic>
          <a:graphicData uri="http://schemas.openxmlformats.org/drawingml/2006/table">
            <a:tbl>
              <a:tblPr/>
              <a:tblGrid>
                <a:gridCol w="2446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Shipment_ID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duplicate_count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Embrim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100" dirty="0">
                        <a:latin typeface="Embrim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Embrim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100" dirty="0">
                        <a:latin typeface="Embrim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" name="Table 0">
            <a:extLst>
              <a:ext uri="{FF2B5EF4-FFF2-40B4-BE49-F238E27FC236}">
                <a16:creationId xmlns:a16="http://schemas.microsoft.com/office/drawing/2014/main" id="{A80E74F4-8E67-9F7A-F92A-C4CDA14EB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203620"/>
              </p:ext>
            </p:extLst>
          </p:nvPr>
        </p:nvGraphicFramePr>
        <p:xfrm>
          <a:off x="5330952" y="4760551"/>
          <a:ext cx="4517136" cy="731520"/>
        </p:xfrm>
        <a:graphic>
          <a:graphicData uri="http://schemas.openxmlformats.org/drawingml/2006/table">
            <a:tbl>
              <a:tblPr/>
              <a:tblGrid>
                <a:gridCol w="2446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err="1">
                          <a:solidFill>
                            <a:schemeClr val="bg1"/>
                          </a:solidFill>
                          <a:latin typeface="Sitka Small Semibold" pitchFamily="2" charset="0"/>
                          <a:ea typeface="Consolas" pitchFamily="34" charset="-122"/>
                          <a:cs typeface="Consolas" pitchFamily="34" charset="-120"/>
                        </a:rPr>
                        <a:t>Order_ID</a:t>
                      </a:r>
                      <a:endParaRPr lang="en-US" sz="1100" dirty="0">
                        <a:solidFill>
                          <a:schemeClr val="bg1"/>
                        </a:solidFill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duplicate_count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Embrim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100" dirty="0">
                        <a:latin typeface="Embrim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Embrim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100" dirty="0">
                        <a:latin typeface="Embrim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Duplicate Records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remove duplicates while keeping the first (MIN) occurrence of each 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320040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3200400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00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How the Deletion Works</a:t>
            </a:r>
          </a:p>
        </p:txBody>
      </p:sp>
      <p:sp>
        <p:nvSpPr>
          <p:cNvPr id="11" name="Text 9"/>
          <p:cNvSpPr/>
          <p:nvPr/>
        </p:nvSpPr>
        <p:spPr>
          <a:xfrm>
            <a:off x="649224" y="161848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MIN(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Order_ID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) keeps the earliest record in each group</a:t>
            </a:r>
          </a:p>
        </p:txBody>
      </p:sp>
      <p:sp>
        <p:nvSpPr>
          <p:cNvPr id="13" name="Text 11"/>
          <p:cNvSpPr/>
          <p:nvPr/>
        </p:nvSpPr>
        <p:spPr>
          <a:xfrm>
            <a:off x="649224" y="213055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Nested subquery needed because MySQL can't DELETE from a table while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SELECTing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from it in same query</a:t>
            </a:r>
          </a:p>
        </p:txBody>
      </p:sp>
      <p:sp>
        <p:nvSpPr>
          <p:cNvPr id="15" name="Text 13"/>
          <p:cNvSpPr/>
          <p:nvPr/>
        </p:nvSpPr>
        <p:spPr>
          <a:xfrm>
            <a:off x="649224" y="264261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The outer wrapper SELECT * FROM (...) AS temp bypasses this MySQL restriction</a:t>
            </a:r>
          </a:p>
        </p:txBody>
      </p:sp>
      <p:sp>
        <p:nvSpPr>
          <p:cNvPr id="17" name="Text 15"/>
          <p:cNvSpPr/>
          <p:nvPr/>
        </p:nvSpPr>
        <p:spPr>
          <a:xfrm>
            <a:off x="649224" y="315468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Same pattern applied to both Orders and Shipments tables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" y="366674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Always run IDENTIFY query first (Slide 4) to confirm what will be deleted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54864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Delete Duplicate Order_IDs (keep lowest Order_ID)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fedex_orders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Order_ID NOT IN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* FROM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SELECT MIN(Order_ID)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fedex_orders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GROUP BY 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AS temp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Verify: should return 0 rows after deletion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Order_ID, COUNT(*)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fedex_orders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Delete Duplicate Shipment_IDs (keep lowest Shipment_ID)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Shipment_ID NOT IN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* FROM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SELECT MIN(Shipment_ID)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GROUP BY Shipment_ID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AS temp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Verify: should return 0 rows after deletion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Shipment_ID, COUNT(*)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Shipment_ID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1;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NULL Delay_Hours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delay values with the average delay for that specific Route_ID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320040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3200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00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Why Route-Level Average?</a:t>
            </a:r>
          </a:p>
        </p:txBody>
      </p:sp>
      <p:sp>
        <p:nvSpPr>
          <p:cNvPr id="11" name="Text 9"/>
          <p:cNvSpPr/>
          <p:nvPr/>
        </p:nvSpPr>
        <p:spPr>
          <a:xfrm>
            <a:off x="649224" y="161848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Global average would ignore route-specific patterns (some routes always take longer)</a:t>
            </a:r>
          </a:p>
        </p:txBody>
      </p:sp>
      <p:sp>
        <p:nvSpPr>
          <p:cNvPr id="13" name="Text 11"/>
          <p:cNvSpPr/>
          <p:nvPr/>
        </p:nvSpPr>
        <p:spPr>
          <a:xfrm>
            <a:off x="649224" y="213055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Using AVG(Delay_Hours) per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Route_ID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gives a contextual, accurate fill value</a:t>
            </a:r>
          </a:p>
        </p:txBody>
      </p:sp>
      <p:sp>
        <p:nvSpPr>
          <p:cNvPr id="15" name="Text 13"/>
          <p:cNvSpPr/>
          <p:nvPr/>
        </p:nvSpPr>
        <p:spPr>
          <a:xfrm>
            <a:off x="649224" y="264261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WHERE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Delay_Hours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IS NOT NULL ensures we only average existing valid values</a:t>
            </a:r>
          </a:p>
        </p:txBody>
      </p:sp>
      <p:sp>
        <p:nvSpPr>
          <p:cNvPr id="17" name="Text 15"/>
          <p:cNvSpPr/>
          <p:nvPr/>
        </p:nvSpPr>
        <p:spPr>
          <a:xfrm>
            <a:off x="649224" y="315468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ROUND(..., 2) keeps the fill value to 2 decimal places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" y="366674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JOIN approach is more efficient than a correlated subquery for large datasets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54864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Replace NULL Delay_Hours with route-level average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fedex_shipments s1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Route_ID,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AVG(Delay_Hours) AS avg_delay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Delay_Hours IS NOT NULL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 BY 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s2 ON s1.Route_ID = s2.Route_ID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s1.Delay_Hours = ROUND(s2.avg_delay, 2)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s1.Delay_Hours IS NULL;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Verify: count remaining NULLs (should be 0)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remaining_nulls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Delay_Hours IS NULL;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Optional: check what values were filled per route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ROUND(AVG(Delay_Hours), 2) AS Route_Avg_Delay,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AS Total_Shipments,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SUM(CASE WHEN Delay_Hours IS NULL THEN 1 ELSE 0 END) AS Nulls_Before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Route_Avg_Delay DESC;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 Conversion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Order_Date, Pickup_Date and Delivery_Date to YYYY-MM-DD HH:MM:SS format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2254843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45719" cy="2254843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00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Key Concepts</a:t>
            </a:r>
          </a:p>
        </p:txBody>
      </p:sp>
      <p:sp>
        <p:nvSpPr>
          <p:cNvPr id="11" name="Text 9"/>
          <p:cNvSpPr/>
          <p:nvPr/>
        </p:nvSpPr>
        <p:spPr>
          <a:xfrm>
            <a:off x="585216" y="143103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000FF"/>
                </a:solidFill>
                <a:latin typeface="Sitka Heading Semibold" pitchFamily="2" charset="0"/>
              </a:rPr>
              <a:t>Columns are already stored as DATETIME in MySQL — no data is lost</a:t>
            </a:r>
          </a:p>
        </p:txBody>
      </p:sp>
      <p:sp>
        <p:nvSpPr>
          <p:cNvPr id="13" name="Text 11"/>
          <p:cNvSpPr/>
          <p:nvPr/>
        </p:nvSpPr>
        <p:spPr>
          <a:xfrm>
            <a:off x="594360" y="180822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000FF"/>
                </a:solidFill>
                <a:latin typeface="Sitka Heading Semibold" pitchFamily="2" charset="0"/>
              </a:rPr>
              <a:t>DATE_FORMAT() controls how the date is displayed in SELECT output</a:t>
            </a:r>
          </a:p>
        </p:txBody>
      </p:sp>
      <p:sp>
        <p:nvSpPr>
          <p:cNvPr id="15" name="Text 13"/>
          <p:cNvSpPr/>
          <p:nvPr/>
        </p:nvSpPr>
        <p:spPr>
          <a:xfrm>
            <a:off x="603504" y="219913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000FF"/>
                </a:solidFill>
                <a:latin typeface="Sitka Heading Semibold" pitchFamily="2" charset="0"/>
              </a:rPr>
              <a:t>%Y = 4-digit year · %m = month · %d = day</a:t>
            </a:r>
          </a:p>
        </p:txBody>
      </p:sp>
      <p:sp>
        <p:nvSpPr>
          <p:cNvPr id="17" name="Text 15"/>
          <p:cNvSpPr/>
          <p:nvPr/>
        </p:nvSpPr>
        <p:spPr>
          <a:xfrm>
            <a:off x="594360" y="2543895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000FF"/>
                </a:solidFill>
                <a:latin typeface="Sitka Heading Semibold" pitchFamily="2" charset="0"/>
              </a:rPr>
              <a:t>%H = hour (24h) · %i = minutes · %s = seconds</a:t>
            </a:r>
          </a:p>
        </p:txBody>
      </p:sp>
      <p:sp>
        <p:nvSpPr>
          <p:cNvPr id="19" name="Text 17"/>
          <p:cNvSpPr/>
          <p:nvPr/>
        </p:nvSpPr>
        <p:spPr>
          <a:xfrm>
            <a:off x="594360" y="289221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000FF"/>
                </a:solidFill>
                <a:latin typeface="Sitka Heading Semibold" pitchFamily="2" charset="0"/>
              </a:rPr>
              <a:t>ALTER TABLE MODIFY confirms the column datatype is DATETIME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54864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Display Order_Date in YYYY-MM-DD HH:MM:SS format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DATE_FORMAT(Order_Date, '%Y-%m-%d %H:%i:%s') AS Order_Date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fedex_orders;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Display Pickup_Date &amp; Delivery_Date formatted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Shipment_ID,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DATE_FORMAT(Pickup_Date,   '%Y-%m-%d %H:%i:%s') AS Pickup_Date,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DATE_FORMAT(Delivery_Date, '%Y-%m-%d %H:%i:%s') AS Delivery_Date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Ensure all 3 date columns are stored as DATETIME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fedex_orders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MODIFY Order_Date DATETIME;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MODIFY Pickup_Date   DATETIME;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MODIFY Delivery_Date DATETIME;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Verify column types after ALTER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fedex_orders;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fedex_shipments;</a:t>
            </a:r>
            <a:endParaRPr lang="en-US" sz="850" dirty="0"/>
          </a:p>
        </p:txBody>
      </p:sp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43E581D8-82D8-00B6-0721-0DAC2E2BC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577845"/>
              </p:ext>
            </p:extLst>
          </p:nvPr>
        </p:nvGraphicFramePr>
        <p:xfrm>
          <a:off x="320042" y="3428662"/>
          <a:ext cx="2311398" cy="2961756"/>
        </p:xfrm>
        <a:graphic>
          <a:graphicData uri="http://schemas.openxmlformats.org/drawingml/2006/table">
            <a:tbl>
              <a:tblPr firstRow="1">
                <a:effectLst>
                  <a:innerShdw blurRad="114300">
                    <a:prstClr val="black"/>
                  </a:innerShdw>
                </a:effectLst>
              </a:tblPr>
              <a:tblGrid>
                <a:gridCol w="1403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87">
                  <a:extLst>
                    <a:ext uri="{9D8B030D-6E8A-4147-A177-3AD203B41FA5}">
                      <a16:colId xmlns:a16="http://schemas.microsoft.com/office/drawing/2014/main" val="3043565023"/>
                    </a:ext>
                  </a:extLst>
                </a:gridCol>
              </a:tblGrid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Field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Type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Shipment_ID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brima" panose="02000000000000000000" pitchFamily="2" charset="0"/>
                        <a:ea typeface="Ebrima" panose="02000000000000000000" pitchFamily="2" charset="0"/>
                        <a:cs typeface="Ebrima" panose="020000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Order_ID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brima" panose="02000000000000000000" pitchFamily="2" charset="0"/>
                        <a:ea typeface="Ebrima" panose="02000000000000000000" pitchFamily="2" charset="0"/>
                        <a:cs typeface="Ebrima" panose="020000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617910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Agent_ID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brima" panose="02000000000000000000" pitchFamily="2" charset="0"/>
                        <a:ea typeface="Ebrima" panose="02000000000000000000" pitchFamily="2" charset="0"/>
                        <a:cs typeface="Ebrima" panose="020000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303651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Route_ID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brima" panose="02000000000000000000" pitchFamily="2" charset="0"/>
                        <a:ea typeface="Ebrima" panose="02000000000000000000" pitchFamily="2" charset="0"/>
                        <a:cs typeface="Ebrima" panose="020000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875774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Warehouse_ID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270307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Pickup_Date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datetime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516978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Delivery_Date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datetime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011456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Delivery_Status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672136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Delay_Hours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double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575026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Delivery_Feedback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964268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Delay_Reason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55535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Date_Integrity_Flag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varchar(50)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592073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Field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Type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014903"/>
                  </a:ext>
                </a:extLst>
              </a:tr>
            </a:tbl>
          </a:graphicData>
        </a:graphic>
      </p:graphicFrame>
      <p:graphicFrame>
        <p:nvGraphicFramePr>
          <p:cNvPr id="30" name="Table 0">
            <a:extLst>
              <a:ext uri="{FF2B5EF4-FFF2-40B4-BE49-F238E27FC236}">
                <a16:creationId xmlns:a16="http://schemas.microsoft.com/office/drawing/2014/main" id="{2422603A-76CB-5F2F-F4D7-56CB48FD5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988052"/>
              </p:ext>
            </p:extLst>
          </p:nvPr>
        </p:nvGraphicFramePr>
        <p:xfrm>
          <a:off x="2768600" y="3427984"/>
          <a:ext cx="2123440" cy="2962432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149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734">
                  <a:extLst>
                    <a:ext uri="{9D8B030D-6E8A-4147-A177-3AD203B41FA5}">
                      <a16:colId xmlns:a16="http://schemas.microsoft.com/office/drawing/2014/main" val="3043565023"/>
                    </a:ext>
                  </a:extLst>
                </a:gridCol>
              </a:tblGrid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Field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Type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Order_ID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mbrim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Type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Customer_ID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mbrim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617910"/>
                  </a:ext>
                </a:extLst>
              </a:tr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Order_Date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mbrim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303651"/>
                  </a:ext>
                </a:extLst>
              </a:tr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Route_ID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mbrim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datetime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875774"/>
                  </a:ext>
                </a:extLst>
              </a:tr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Warehouse_ID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mbrim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270307"/>
                  </a:ext>
                </a:extLst>
              </a:tr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Order_Amount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mbrim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516978"/>
                  </a:ext>
                </a:extLst>
              </a:tr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Delivery_Type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double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011456"/>
                  </a:ext>
                </a:extLst>
              </a:tr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Payment_Mode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672136"/>
                  </a:ext>
                </a:extLst>
              </a:tr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Order_Dates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575026"/>
                  </a:ext>
                </a:extLst>
              </a:tr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Order_Time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mbrim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9642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Integrity Validation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flag shipments where Delivery_Date occurs before Pickup_Date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320040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32004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00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Why This Matters</a:t>
            </a:r>
          </a:p>
        </p:txBody>
      </p:sp>
      <p:sp>
        <p:nvSpPr>
          <p:cNvPr id="11" name="Text 9"/>
          <p:cNvSpPr/>
          <p:nvPr/>
        </p:nvSpPr>
        <p:spPr>
          <a:xfrm>
            <a:off x="649224" y="161848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Delivery_Date &lt;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Pickup_Date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is physically impossible — data entry error</a:t>
            </a:r>
          </a:p>
        </p:txBody>
      </p:sp>
      <p:sp>
        <p:nvSpPr>
          <p:cNvPr id="13" name="Text 11"/>
          <p:cNvSpPr/>
          <p:nvPr/>
        </p:nvSpPr>
        <p:spPr>
          <a:xfrm>
            <a:off x="649224" y="213055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These records would produce NEGATIVE transit times in TIMESTAMPDIFF()</a:t>
            </a:r>
          </a:p>
        </p:txBody>
      </p:sp>
      <p:sp>
        <p:nvSpPr>
          <p:cNvPr id="15" name="Text 13"/>
          <p:cNvSpPr/>
          <p:nvPr/>
        </p:nvSpPr>
        <p:spPr>
          <a:xfrm>
            <a:off x="649224" y="264261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Flagging preserves the data while marking it for review/correction</a:t>
            </a:r>
          </a:p>
        </p:txBody>
      </p:sp>
      <p:sp>
        <p:nvSpPr>
          <p:cNvPr id="17" name="Text 15"/>
          <p:cNvSpPr/>
          <p:nvPr/>
        </p:nvSpPr>
        <p:spPr>
          <a:xfrm>
            <a:off x="649224" y="315468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ALTER TABLE adds a new column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Date_Integrity_Flag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(default NULL)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" y="366674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UPDATE sets the flag only for invalid records — valid ones stay NULL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3774931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34548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Step 1: View all invalid date records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Shipment_ID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Pickup_Date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Delivery_Date,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'Invalid: Delivery before Pickup' AS Flag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Delivery_Date &lt; Pickup_Date;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Step 2: Add flag column to the table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COLUMN Date_Integrity_Flag VARCHAR(50) DEFAULT NULL;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Step 3: Mark all invalid records with the flag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Date_Integrity_Flag = 'Invalid Date'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Delivery_Date &lt; Pickup_Date;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Step 4: Count how many records were flagged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Date_Integrity_Flag,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AS record_count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Date_Integrity_Flag;</a:t>
            </a:r>
            <a:endParaRPr lang="en-US" sz="850" dirty="0"/>
          </a:p>
        </p:txBody>
      </p:sp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2560A0B9-D6FB-BC79-1899-9C9D34F5BB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814864"/>
              </p:ext>
            </p:extLst>
          </p:nvPr>
        </p:nvGraphicFramePr>
        <p:xfrm>
          <a:off x="320040" y="5042916"/>
          <a:ext cx="11521440" cy="79248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502991418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14189748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58329861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 err="1">
                          <a:solidFill>
                            <a:schemeClr val="bg1"/>
                          </a:solidFill>
                          <a:latin typeface="Sitka Small Semibold" pitchFamily="2" charset="0"/>
                          <a:ea typeface="Calibri" charset="0"/>
                          <a:cs typeface="Calibri" charset="0"/>
                        </a:rPr>
                        <a:t>Shipment_ID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 err="1">
                          <a:solidFill>
                            <a:schemeClr val="bg1"/>
                          </a:solidFill>
                          <a:latin typeface="Sitka Small Semibold" pitchFamily="2" charset="0"/>
                          <a:ea typeface="Calibri" charset="0"/>
                          <a:cs typeface="Calibri" charset="0"/>
                        </a:rPr>
                        <a:t>Order_ID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 err="1">
                          <a:solidFill>
                            <a:schemeClr val="bg1"/>
                          </a:solidFill>
                          <a:latin typeface="Sitka Small Semibold" pitchFamily="2" charset="0"/>
                          <a:ea typeface="Calibri" charset="0"/>
                          <a:cs typeface="Calibri" charset="0"/>
                        </a:rPr>
                        <a:t>Pickup_Date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 err="1">
                          <a:solidFill>
                            <a:schemeClr val="bg1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Delivery_Date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Checks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all foreign key relationships across Orders, Routes, Warehouses, Agents &amp; Shipments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320040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320040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00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What Referential Integrity Means</a:t>
            </a:r>
          </a:p>
        </p:txBody>
      </p:sp>
      <p:sp>
        <p:nvSpPr>
          <p:cNvPr id="11" name="Text 9"/>
          <p:cNvSpPr/>
          <p:nvPr/>
        </p:nvSpPr>
        <p:spPr>
          <a:xfrm>
            <a:off x="649224" y="161848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Every Route_ID in Orders must exist in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fedex_routes</a:t>
            </a:r>
            <a:endParaRPr lang="en-US" sz="1100" dirty="0">
              <a:solidFill>
                <a:srgbClr val="0000FF"/>
              </a:solidFill>
              <a:latin typeface="Sitka Heading Semibold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9224" y="213055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Every Warehouse_ID in Orders must exist in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fedex_warehouses</a:t>
            </a:r>
            <a:endParaRPr lang="en-US" sz="1100" dirty="0">
              <a:solidFill>
                <a:srgbClr val="0000FF"/>
              </a:solidFill>
              <a:latin typeface="Sitka Heading Semibold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9224" y="264261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Every Order_ID in Shipments must exist in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fedex_orders</a:t>
            </a:r>
            <a:endParaRPr lang="en-US" sz="1100" dirty="0">
              <a:solidFill>
                <a:srgbClr val="0000FF"/>
              </a:solidFill>
              <a:latin typeface="Sitka Heading Semibold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9224" y="315468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Every Agent_ID in Shipments must exist in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fedex_delivery_agents</a:t>
            </a:r>
            <a:endParaRPr lang="en-US" sz="1100" dirty="0">
              <a:solidFill>
                <a:srgbClr val="0000FF"/>
              </a:solidFill>
              <a:latin typeface="Sitka Heading Semibold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9224" y="366674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LEFT JOIN + WHERE IS NULL reveals orphan records with no matching parent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54864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1: Orders → Routes (orphan Route_IDs)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o.Order_ID, o.Route_ID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fedex_orders o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fedex_routes r ON o.Route_ID = r.Route_ID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r.Route_ID IS NULL;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2: Orders → Warehouses (orphan Warehouse_IDs)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o.Order_ID, o.Warehouse_ID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fedex_orders o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fedex_warehouses w ON o.Warehouse_ID = w.Warehouse_ID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w.Warehouse_ID IS NULL;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3: Shipments → Orders (orphan Order_IDs)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s.Shipment_ID, s.Order_ID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fedex_orders o ON s.Order_ID = o.Order_ID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o.Order_ID IS NULL;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4: Shipments → Agents (orphan Agent_IDs)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s.Shipment_ID, s.Agent_ID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fedex_delivery_agents a ON s.Agent_ID = a.Agent_ID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a.Agent_ID IS NULL;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5: Shipments → Routes (orphan Route_IDs)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s.Shipment_ID, s.Route_ID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fedex_routes r ON s.Route_ID = r.Route_ID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r.Route_ID IS NULL;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6: Shipments → Warehouses (orphan Warehouse_IDs)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s.Shipment_ID, s.Warehouse_ID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fedex_warehouses w ON s.Warehouse_ID = w.Warehouse_ID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w.Warehouse_ID IS NULL;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Analysis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analyses to measure, rank and compare shipment delays across routes, warehouses and delivery types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11521440" cy="118872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70432"/>
            <a:ext cx="54864" cy="1188720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80160"/>
            <a:ext cx="329184" cy="329184"/>
          </a:xfrm>
          <a:prstGeom prst="ellipse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80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9264" y="128016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Calculation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9264" y="164592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Use TIMESTAMPDIFF(HOUR) to compute actual transit hours vs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Delay_Hours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for every shipment</a:t>
            </a:r>
          </a:p>
        </p:txBody>
      </p:sp>
      <p:sp>
        <p:nvSpPr>
          <p:cNvPr id="13" name="Shape 11"/>
          <p:cNvSpPr/>
          <p:nvPr/>
        </p:nvSpPr>
        <p:spPr>
          <a:xfrm>
            <a:off x="320040" y="2523744"/>
            <a:ext cx="11521440" cy="118872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523744"/>
            <a:ext cx="54864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633472"/>
            <a:ext cx="329184" cy="32918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334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263347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Delayed Routes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9264" y="299923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GROUP BY Route_ID → AVG(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Delay_Hours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) → ORDER BY DESC LIMIT 10 to find worst routes</a:t>
            </a:r>
          </a:p>
        </p:txBody>
      </p:sp>
      <p:sp>
        <p:nvSpPr>
          <p:cNvPr id="19" name="Shape 17"/>
          <p:cNvSpPr/>
          <p:nvPr/>
        </p:nvSpPr>
        <p:spPr>
          <a:xfrm>
            <a:off x="320040" y="3877056"/>
            <a:ext cx="11521440" cy="118872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877056"/>
            <a:ext cx="54864" cy="11887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986784"/>
            <a:ext cx="329184" cy="329184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86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9264" y="3986784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Ranking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9264" y="435254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RANK() OVER (PARTITION BY Warehouse_ID ORDER BY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Delay_Hours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DESC) ranks within each hub</a:t>
            </a:r>
          </a:p>
        </p:txBody>
      </p:sp>
      <p:sp>
        <p:nvSpPr>
          <p:cNvPr id="25" name="Shape 23"/>
          <p:cNvSpPr/>
          <p:nvPr/>
        </p:nvSpPr>
        <p:spPr>
          <a:xfrm>
            <a:off x="320040" y="5230368"/>
            <a:ext cx="11521440" cy="118872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5230368"/>
            <a:ext cx="54864" cy="1188720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5340096"/>
            <a:ext cx="329184" cy="329184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53400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9264" y="534009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by Delivery Type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9264" y="570585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Express vs Standard: GROUP BY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Delivery_Type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→ compare AVG, MAX, MIN delay hours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Calculation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actual transit hours per shipment using TIMESTAMPDIFF and compare with Delay_Hours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320040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3200400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00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TIMESTAMPDIFF Explained</a:t>
            </a:r>
          </a:p>
        </p:txBody>
      </p:sp>
      <p:sp>
        <p:nvSpPr>
          <p:cNvPr id="11" name="Text 9"/>
          <p:cNvSpPr/>
          <p:nvPr/>
        </p:nvSpPr>
        <p:spPr>
          <a:xfrm>
            <a:off x="649224" y="161848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TIMESTAMPDIFF(HOUR, start, end) returns integer hours between two datetimes</a:t>
            </a:r>
          </a:p>
        </p:txBody>
      </p:sp>
      <p:sp>
        <p:nvSpPr>
          <p:cNvPr id="13" name="Text 11"/>
          <p:cNvSpPr/>
          <p:nvPr/>
        </p:nvSpPr>
        <p:spPr>
          <a:xfrm>
            <a:off x="649224" y="213055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Actual_Transit_Hours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= time the package was physically in transit</a:t>
            </a:r>
          </a:p>
        </p:txBody>
      </p:sp>
      <p:sp>
        <p:nvSpPr>
          <p:cNvPr id="15" name="Text 13"/>
          <p:cNvSpPr/>
          <p:nvPr/>
        </p:nvSpPr>
        <p:spPr>
          <a:xfrm>
            <a:off x="649224" y="264261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Delay_Hours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= pre-stored delay column (may differ from calculated)</a:t>
            </a:r>
          </a:p>
        </p:txBody>
      </p:sp>
      <p:sp>
        <p:nvSpPr>
          <p:cNvPr id="17" name="Text 15"/>
          <p:cNvSpPr/>
          <p:nvPr/>
        </p:nvSpPr>
        <p:spPr>
          <a:xfrm>
            <a:off x="649224" y="315468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Comparing both helps detect data inconsistencies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" y="366674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This query forms the foundation for all delay-based analysis in Tasks 3–7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152704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 the actual delivery transit time per shipment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Shipment_ID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Pickup_Date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Delivery_Date,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TIMESTAMPDIFF(HOUR, Pickup_Date, Delivery_Date)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 Actual_Transit_Hours,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Delay_Hours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Actual_Transit_Hours DESC;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120640" y="2637725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D148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061861"/>
              </p:ext>
            </p:extLst>
          </p:nvPr>
        </p:nvGraphicFramePr>
        <p:xfrm>
          <a:off x="5120640" y="2976053"/>
          <a:ext cx="7040880" cy="3790501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013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2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7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Shipment_ID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Order_ID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Pickup_Date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Delivery_Date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Actual_Transit_Hours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Delay_Hours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O0289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14-08-2024 12:12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15-08-2024 10:12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O0166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12-11-2024 11:38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13-11-2024 13:55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O0156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23-04-2025 15:13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24-04-2025 13:04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O0237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06-09-2024 04:34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07-09-2024 06:55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394016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O0047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11-08-2025 13:49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12-08-2025 06:29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629446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O0022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17-04-2025 03:13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18-04-2025 00:11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518174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O0078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29-09-2024 21:28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30-09-2024 12:47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094947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O0089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10-12-2024 10:04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11-12-2024 07:44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758084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O0082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27-04-2024 17:37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01-05-2024 20:51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73585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O0027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08-03-2024 17:26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09-03-2024 18:43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755215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O0198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17-06-2025 11:51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18-06-2025 05:20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260744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O0073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12-06-2024 13:37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14-06-2024 08:00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8198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Delayed Routes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all routes by average delay hours to identify the most problematic corridors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1808385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1403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10 routes by average delay hours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r.Source_City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r.Destination_City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r.Source_Country,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ROUND(AVG(s.Delay_Hours), 2) AS Avg_Delay_Hours,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COUNT(s.Shipment_ID) AS Total_Shipments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fedex_routes r ON s.Route_ID = r.Route_ID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s.Route_ID, r.Source_City, r.Destination_City, r.Source_Country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Avg_Delay_Hours DESC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987961"/>
            <a:ext cx="11521440" cy="329184"/>
          </a:xfrm>
          <a:prstGeom prst="rect">
            <a:avLst/>
          </a:prstGeom>
          <a:solidFill>
            <a:srgbClr val="4D14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87961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Top 10 Most Delayed Routes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790434"/>
              </p:ext>
            </p:extLst>
          </p:nvPr>
        </p:nvGraphicFramePr>
        <p:xfrm>
          <a:off x="320040" y="3372009"/>
          <a:ext cx="11521440" cy="3330547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610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2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2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4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60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60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Route_ID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Source_City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Destination_City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Source_Country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Avg_Delay_Hours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Total_Shipments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Dubai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UAE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41.04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Sydney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34.01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Istanbul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Turkey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32.8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32.18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Tokyo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30.81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London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Los Angeles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29.86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846332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Paris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France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25.88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429367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Sao Paulo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Memphis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Brazil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25.83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540214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Chicago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Brussels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USA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22.64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4908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Seoul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Johannesburg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South Korea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20.97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7121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Ranking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RANK() to rank shipments by delay within each Warehouse_ID using PARTITION BY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320040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3200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00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Why RANK() over PARTITION BY?</a:t>
            </a:r>
          </a:p>
        </p:txBody>
      </p:sp>
      <p:sp>
        <p:nvSpPr>
          <p:cNvPr id="11" name="Text 9"/>
          <p:cNvSpPr/>
          <p:nvPr/>
        </p:nvSpPr>
        <p:spPr>
          <a:xfrm>
            <a:off x="649224" y="161848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PARTITION BY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Warehouse_ID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resets ranking for each warehouse independently</a:t>
            </a:r>
          </a:p>
        </p:txBody>
      </p:sp>
      <p:sp>
        <p:nvSpPr>
          <p:cNvPr id="13" name="Text 11"/>
          <p:cNvSpPr/>
          <p:nvPr/>
        </p:nvSpPr>
        <p:spPr>
          <a:xfrm>
            <a:off x="649224" y="213055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ORDER BY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Delay_Hours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DESC puts highest delay at Rank 1</a:t>
            </a:r>
          </a:p>
        </p:txBody>
      </p:sp>
      <p:sp>
        <p:nvSpPr>
          <p:cNvPr id="15" name="Text 13"/>
          <p:cNvSpPr/>
          <p:nvPr/>
        </p:nvSpPr>
        <p:spPr>
          <a:xfrm>
            <a:off x="649224" y="264261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RANK() skips numbers after ties (1,1,3) — preserves count of total rows</a:t>
            </a:r>
          </a:p>
        </p:txBody>
      </p:sp>
      <p:sp>
        <p:nvSpPr>
          <p:cNvPr id="17" name="Text 15"/>
          <p:cNvSpPr/>
          <p:nvPr/>
        </p:nvSpPr>
        <p:spPr>
          <a:xfrm>
            <a:off x="649224" y="315468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Results help identify which specific shipment is worst within each hub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" y="366674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For this question, RANK() alone is sufficient — DENSE_RANK/ROW_NUMBER not needed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16733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shipments by delay within each warehouse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Shipment_ID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Delay_Hours,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RANK() OVER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PARTITION BY Warehouse_ID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ORDER BY Delay_Hours DESC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AS Delay_Rank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Warehouse_ID, Delay_Rank;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74920" y="2861434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D148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264334"/>
              </p:ext>
            </p:extLst>
          </p:nvPr>
        </p:nvGraphicFramePr>
        <p:xfrm>
          <a:off x="5074920" y="3199762"/>
          <a:ext cx="6766560" cy="3566796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Shipment_ID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Warehouse_ID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Route_ID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Delay_Hours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Delay_Rank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S00648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205.7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S00670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194.6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S00997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193.7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S00349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171.6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S00069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170.8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522056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S00148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138.7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066725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S00192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99.5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793819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S00153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95.4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596132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S00739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71.4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025468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S00816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66.3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350717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S00550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2437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 by Delivery Type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Express vs Standard delivery performance to assess service-level efficiency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32004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delay per Delivery_Type (Express vs Standard)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o.Delivery_Type,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COUNT(s.Shipment_ID) AS Total_Shipments,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ROUND(AVG(s.Delay_Hours), 2) AS Avg_Delay_Hours,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ROUND(MAX(s.Delay_Hours), 2) AS Max_Delay_Hours,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ROUND(MIN(s.Delay_Hours), 2) AS Min_Delay_Hours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fedex_orders o ON s.Order_ID = o.Order_ID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o.Delivery_Type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Avg_Delay_Hours DESC;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4480560"/>
            <a:ext cx="11521440" cy="329184"/>
          </a:xfrm>
          <a:prstGeom prst="rect">
            <a:avLst/>
          </a:prstGeom>
          <a:solidFill>
            <a:srgbClr val="FF620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480560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Express vs Standard Delay Comparison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517117"/>
              </p:ext>
            </p:extLst>
          </p:nvPr>
        </p:nvGraphicFramePr>
        <p:xfrm>
          <a:off x="320040" y="4864608"/>
          <a:ext cx="9875520" cy="109728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Delivery_Type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Total_Shipments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Avg_Delay_Hours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Max_Delay_Hours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Min_Delay_Hours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Express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22.5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238.6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Express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Standard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20.85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238.6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Standard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320040" y="5989320"/>
            <a:ext cx="1152144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035040"/>
            <a:ext cx="11247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92400E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IN" sz="1100" dirty="0">
                <a:latin typeface="Sitka Small Semibold" pitchFamily="2" charset="0"/>
              </a:rPr>
              <a:t>Standard delivery accounts for nearly twice as many shipments (663 vs 337), while average delays remain comparable, with Express shipments experiencing a slightly higher delay (22.5 hrs vs 20.85 hrs).</a:t>
            </a:r>
            <a:endParaRPr lang="en-US" sz="1100" dirty="0">
              <a:latin typeface="Sitka Small Semibold" pitchFamily="2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Performance Analysis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analyses to measure transit efficiency, identify underperforming routes, and recommend optimizations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11521440" cy="932688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70432"/>
            <a:ext cx="54864" cy="932688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61872"/>
            <a:ext cx="274320" cy="274320"/>
          </a:xfrm>
          <a:prstGeom prst="ellipse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618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126187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48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Avg Transit Time &amp; Delay per Route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96112" y="1581912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Full per-route breakdown: expected vs actual transit hours + avg delay using TIMESTAMPDIFF + AVG()</a:t>
            </a:r>
          </a:p>
        </p:txBody>
      </p:sp>
      <p:sp>
        <p:nvSpPr>
          <p:cNvPr id="13" name="Shape 11"/>
          <p:cNvSpPr/>
          <p:nvPr/>
        </p:nvSpPr>
        <p:spPr>
          <a:xfrm>
            <a:off x="320040" y="2249424"/>
            <a:ext cx="11521440" cy="932688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249424"/>
            <a:ext cx="54864" cy="9326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340864"/>
            <a:ext cx="274320" cy="2743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408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6112" y="23408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Distance-to-Time Efficiency Ratio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96112" y="2660904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Efficiency = Distance_KM / NULLIF(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Avg_Transit_Hrs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, 0) — lower ratio = slower route per km</a:t>
            </a:r>
          </a:p>
        </p:txBody>
      </p:sp>
      <p:sp>
        <p:nvSpPr>
          <p:cNvPr id="19" name="Shape 17"/>
          <p:cNvSpPr/>
          <p:nvPr/>
        </p:nvSpPr>
        <p:spPr>
          <a:xfrm>
            <a:off x="320040" y="3328416"/>
            <a:ext cx="11521440" cy="932688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328416"/>
            <a:ext cx="54864" cy="932688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198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" y="3419856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32D2D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3 Worst Efficiency Routes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3739896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Filter same efficiency ratio query → ORDER BY Efficiency_Ratio ASC LIMIT 3</a:t>
            </a:r>
          </a:p>
        </p:txBody>
      </p:sp>
      <p:sp>
        <p:nvSpPr>
          <p:cNvPr id="25" name="Shape 23"/>
          <p:cNvSpPr/>
          <p:nvPr/>
        </p:nvSpPr>
        <p:spPr>
          <a:xfrm>
            <a:off x="320040" y="4407408"/>
            <a:ext cx="11521440" cy="932688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407408"/>
            <a:ext cx="54864" cy="93268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498848"/>
            <a:ext cx="274320" cy="27432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498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6112" y="449884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Routes with &gt;20% Delayed Shipments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96112" y="4818888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CASE WHEN actual transit &gt; expected → % calculation → HAVING &gt; 20 identifies SLA-breach routes</a:t>
            </a:r>
          </a:p>
        </p:txBody>
      </p:sp>
      <p:sp>
        <p:nvSpPr>
          <p:cNvPr id="31" name="Shape 29"/>
          <p:cNvSpPr/>
          <p:nvPr/>
        </p:nvSpPr>
        <p:spPr>
          <a:xfrm>
            <a:off x="320040" y="5486400"/>
            <a:ext cx="11521440" cy="932688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5486400"/>
            <a:ext cx="54864" cy="9326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5577840"/>
            <a:ext cx="274320" cy="27432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5577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6112" y="55778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Route Optimization Recommendations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96112" y="5897880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Combine worst delay + lowest efficiency → ORDER BY Avg_Delay DESC, Efficiency ASC LIMIT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Transit Time, Delay &amp; Efficiency Ratio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per-route analysis: expected vs actual transit hours + efficiency ratio for every route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9"/>
            <a:ext cx="11521440" cy="231343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22007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Complete route performance: transit time + delay + efficiency ratio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r.Source_City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r.Destination_City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r.Distance_KM,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r.Avg_Transit_Time_Hours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Expected_Transit_Hrs,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ROUND(AVG(TIMESTAMPDIFF(HOUR, s.Pickup_Date, s.Delivery_Date)), 2) AS Avg_Actual_Transit_Hrs,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ROUND(AVG(s.Delay_Hours), 2) AS Avg_Delay_Hours,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r.Distance_KM 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NULLIF(AVG(TIMESTAMPDIFF(HOUR, s.Pickup_Date, s.Delivery_Date)), 0), 2) AS Efficiency_Ratio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fedex_routes r ON s.Route_ID = r.Route_ID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s.Route_ID,r.Source_City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r.Destination_City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r.Distance_KM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r.Avg_Transit_Time_Hours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Efficiency_Ratio DESC;</a:t>
            </a:r>
            <a:endParaRPr lang="en-US" sz="9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4572C30-CBC3-4DD7-AF8B-3D76F33F8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79183"/>
              </p:ext>
            </p:extLst>
          </p:nvPr>
        </p:nvGraphicFramePr>
        <p:xfrm>
          <a:off x="320040" y="3493008"/>
          <a:ext cx="11521440" cy="3319275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974504">
                  <a:extLst>
                    <a:ext uri="{9D8B030D-6E8A-4147-A177-3AD203B41FA5}">
                      <a16:colId xmlns:a16="http://schemas.microsoft.com/office/drawing/2014/main" val="940482515"/>
                    </a:ext>
                  </a:extLst>
                </a:gridCol>
                <a:gridCol w="1082896">
                  <a:extLst>
                    <a:ext uri="{9D8B030D-6E8A-4147-A177-3AD203B41FA5}">
                      <a16:colId xmlns:a16="http://schemas.microsoft.com/office/drawing/2014/main" val="2179316934"/>
                    </a:ext>
                  </a:extLst>
                </a:gridCol>
                <a:gridCol w="1289785">
                  <a:extLst>
                    <a:ext uri="{9D8B030D-6E8A-4147-A177-3AD203B41FA5}">
                      <a16:colId xmlns:a16="http://schemas.microsoft.com/office/drawing/2014/main" val="1375463656"/>
                    </a:ext>
                  </a:extLst>
                </a:gridCol>
                <a:gridCol w="1443790">
                  <a:extLst>
                    <a:ext uri="{9D8B030D-6E8A-4147-A177-3AD203B41FA5}">
                      <a16:colId xmlns:a16="http://schemas.microsoft.com/office/drawing/2014/main" val="2510680580"/>
                    </a:ext>
                  </a:extLst>
                </a:gridCol>
                <a:gridCol w="1875412">
                  <a:extLst>
                    <a:ext uri="{9D8B030D-6E8A-4147-A177-3AD203B41FA5}">
                      <a16:colId xmlns:a16="http://schemas.microsoft.com/office/drawing/2014/main" val="231393184"/>
                    </a:ext>
                  </a:extLst>
                </a:gridCol>
                <a:gridCol w="1782188">
                  <a:extLst>
                    <a:ext uri="{9D8B030D-6E8A-4147-A177-3AD203B41FA5}">
                      <a16:colId xmlns:a16="http://schemas.microsoft.com/office/drawing/2014/main" val="4023254283"/>
                    </a:ext>
                  </a:extLst>
                </a:gridCol>
                <a:gridCol w="1607419">
                  <a:extLst>
                    <a:ext uri="{9D8B030D-6E8A-4147-A177-3AD203B41FA5}">
                      <a16:colId xmlns:a16="http://schemas.microsoft.com/office/drawing/2014/main" val="1223171005"/>
                    </a:ext>
                  </a:extLst>
                </a:gridCol>
                <a:gridCol w="1465446">
                  <a:extLst>
                    <a:ext uri="{9D8B030D-6E8A-4147-A177-3AD203B41FA5}">
                      <a16:colId xmlns:a16="http://schemas.microsoft.com/office/drawing/2014/main" val="939033340"/>
                    </a:ext>
                  </a:extLst>
                </a:gridCol>
              </a:tblGrid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Route_ID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Source_City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Destination_City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Distance_KM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Expected_Transit_Hrs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Avg_Actual_Transit_Hrs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Avg_Delay_Hours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Efficiency_Ratio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840122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Johannesburg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Dubai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30.73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13.91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236.05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525986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Toronto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Seoul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198.05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626576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 Angeles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Amsterdam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33.58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186.68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847114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Chicago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Brussels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7369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22.64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179.19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755750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Sydney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Madrid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178.63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423863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London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 Angeles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57.13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175.46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383971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Brussels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155.29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600470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Sao Paulo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Memphis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75.73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123.43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661491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Dubai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Shanghai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7264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41.04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114.03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95257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Memphis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Frankfurt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361645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Seoul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Johannesburg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103.02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6717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Paris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Toronto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83.76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102.14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052543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Madrid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Mexico City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6651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19.27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243298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Tokyo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Sao Paulo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509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Routes with Worst Efficiency Ratio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routes where Distance/Time ratio is lowest — slowest shipments per kilometer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30175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routes with worst (lowest) efficiency ratio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r.Source_City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r.Destination_City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r.Distance_KM,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ROUND(AVG(TIMESTAMPDIFF(HOUR, s.Pickup_Date, s.Delivery_Date)), 2)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 Avg_Actual_Transit_Hrs,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ROUND(r.Distance_KM 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NULLIF(AVG(TIMESTAMPDIFF(HOUR, s.Pickup_Date, s.Delivery_Date)), 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, 2) AS Efficiency_Ratio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fedex_routes r ON s.Route_ID = r.Route_ID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s.Route_ID, r.Source_City, r.Destination_City, r.Distance_KM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Efficiency_Ratio ASC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3;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4270248"/>
            <a:ext cx="11521440" cy="329184"/>
          </a:xfrm>
          <a:prstGeom prst="rect">
            <a:avLst/>
          </a:prstGeom>
          <a:solidFill>
            <a:srgbClr val="A32D2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70248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3 Worst Routes (Lowest Efficiency Ratio)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460406"/>
              </p:ext>
            </p:extLst>
          </p:nvPr>
        </p:nvGraphicFramePr>
        <p:xfrm>
          <a:off x="320040" y="4654296"/>
          <a:ext cx="9152733" cy="1937892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5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94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44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Route_ID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Source_City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Destination_City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Distance_KM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Avg_Actual_Transit_Hrs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Efficiency_Ratio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4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885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60.21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14.7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4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Istanbul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28.11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21.56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4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Tokyo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1846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51.14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36.1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with &gt;20% Delayed Shipments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routes where more than 20% of shipments exceeded the expected transit time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02360"/>
            <a:ext cx="4572000" cy="2440432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274320" y="1115568"/>
            <a:ext cx="45719" cy="244043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00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How the 20% Filter Works</a:t>
            </a:r>
          </a:p>
        </p:txBody>
      </p:sp>
      <p:sp>
        <p:nvSpPr>
          <p:cNvPr id="11" name="Text 9"/>
          <p:cNvSpPr/>
          <p:nvPr/>
        </p:nvSpPr>
        <p:spPr>
          <a:xfrm>
            <a:off x="585216" y="1590499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000FF"/>
                </a:solidFill>
                <a:latin typeface="Sitka Heading Semibold" pitchFamily="2" charset="0"/>
              </a:rPr>
              <a:t>TIMESTAMPDIFF(HOUR,...) &gt; r.Avg_Transit_Time_Hours identifies delayed shipments</a:t>
            </a:r>
          </a:p>
        </p:txBody>
      </p:sp>
      <p:sp>
        <p:nvSpPr>
          <p:cNvPr id="13" name="Text 11"/>
          <p:cNvSpPr/>
          <p:nvPr/>
        </p:nvSpPr>
        <p:spPr>
          <a:xfrm>
            <a:off x="571500" y="1944889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000FF"/>
                </a:solidFill>
                <a:latin typeface="Sitka Heading Semibold" pitchFamily="2" charset="0"/>
              </a:rPr>
              <a:t>CASE WHEN counts only the delayed ones; COUNT(*) gets total</a:t>
            </a:r>
          </a:p>
        </p:txBody>
      </p:sp>
      <p:sp>
        <p:nvSpPr>
          <p:cNvPr id="15" name="Text 13"/>
          <p:cNvSpPr/>
          <p:nvPr/>
        </p:nvSpPr>
        <p:spPr>
          <a:xfrm>
            <a:off x="585216" y="2257177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000FF"/>
                </a:solidFill>
                <a:latin typeface="Sitka Heading Semibold" pitchFamily="2" charset="0"/>
              </a:rPr>
              <a:t>Division × 100 gives percentage for that route</a:t>
            </a:r>
          </a:p>
        </p:txBody>
      </p:sp>
      <p:sp>
        <p:nvSpPr>
          <p:cNvPr id="17" name="Text 15"/>
          <p:cNvSpPr/>
          <p:nvPr/>
        </p:nvSpPr>
        <p:spPr>
          <a:xfrm>
            <a:off x="585216" y="2595195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000FF"/>
                </a:solidFill>
                <a:latin typeface="Sitka Heading Semibold" pitchFamily="2" charset="0"/>
              </a:rPr>
              <a:t>HAVING filters to only routes where this % exceeds 20</a:t>
            </a:r>
          </a:p>
        </p:txBody>
      </p:sp>
      <p:sp>
        <p:nvSpPr>
          <p:cNvPr id="19" name="Text 17"/>
          <p:cNvSpPr/>
          <p:nvPr/>
        </p:nvSpPr>
        <p:spPr>
          <a:xfrm>
            <a:off x="571500" y="298907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000FF"/>
                </a:solidFill>
                <a:latin typeface="Sitka Heading Semibold" pitchFamily="2" charset="0"/>
              </a:rPr>
              <a:t>WHERE clause is not used here — must use HAVING for aggregate conditions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244043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2785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Routes where &gt;20% shipments exceeded SLA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r.Source_City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r.Destination_City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50" dirty="0"/>
              <a:t>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r.Avg_Transit_Time_Hours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Expected_Hrs,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AS Total_Shipments,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SUM(CASE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WHEN TIMESTAMPDIFF(HOUR, s.Pickup_Date,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s.Delivery_Date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850" dirty="0"/>
              <a:t> 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r.Avg_Transit_Time_Hours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THEN 1 ELSE 0 END) AS Delayed_Beyond_Expected,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ROUND(SUM(CASE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WHEN TIMESTAMPDIFF(HOUR, s.Pickup_Date,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s.Delivery_Date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850" dirty="0"/>
              <a:t> 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r.Avg_Transit_Time_Hours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THEN 1 ELSE 0 END) / COUNT(*) * 100, 2) AS Pct_Delayed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fedex_routes r ON s.Route_ID = r.Route_ID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s.Route_ID,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r.Source_City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50" dirty="0"/>
              <a:t>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r.Destination_City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r.Avg_Transit_Time_Hours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Pct_Delayed &gt; 20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Pct_Delayed DESC;</a:t>
            </a:r>
            <a:endParaRPr lang="en-US" sz="850" dirty="0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06DC0862-ACFA-2156-7916-CA8D15353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343838"/>
              </p:ext>
            </p:extLst>
          </p:nvPr>
        </p:nvGraphicFramePr>
        <p:xfrm>
          <a:off x="228600" y="3629152"/>
          <a:ext cx="11612881" cy="3319275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163312">
                  <a:extLst>
                    <a:ext uri="{9D8B030D-6E8A-4147-A177-3AD203B41FA5}">
                      <a16:colId xmlns:a16="http://schemas.microsoft.com/office/drawing/2014/main" val="3184087200"/>
                    </a:ext>
                  </a:extLst>
                </a:gridCol>
                <a:gridCol w="1496300">
                  <a:extLst>
                    <a:ext uri="{9D8B030D-6E8A-4147-A177-3AD203B41FA5}">
                      <a16:colId xmlns:a16="http://schemas.microsoft.com/office/drawing/2014/main" val="4235782948"/>
                    </a:ext>
                  </a:extLst>
                </a:gridCol>
                <a:gridCol w="1618947">
                  <a:extLst>
                    <a:ext uri="{9D8B030D-6E8A-4147-A177-3AD203B41FA5}">
                      <a16:colId xmlns:a16="http://schemas.microsoft.com/office/drawing/2014/main" val="3949576714"/>
                    </a:ext>
                  </a:extLst>
                </a:gridCol>
                <a:gridCol w="1974625">
                  <a:extLst>
                    <a:ext uri="{9D8B030D-6E8A-4147-A177-3AD203B41FA5}">
                      <a16:colId xmlns:a16="http://schemas.microsoft.com/office/drawing/2014/main" val="1215644329"/>
                    </a:ext>
                  </a:extLst>
                </a:gridCol>
                <a:gridCol w="1704801">
                  <a:extLst>
                    <a:ext uri="{9D8B030D-6E8A-4147-A177-3AD203B41FA5}">
                      <a16:colId xmlns:a16="http://schemas.microsoft.com/office/drawing/2014/main" val="3574093014"/>
                    </a:ext>
                  </a:extLst>
                </a:gridCol>
                <a:gridCol w="2208699">
                  <a:extLst>
                    <a:ext uri="{9D8B030D-6E8A-4147-A177-3AD203B41FA5}">
                      <a16:colId xmlns:a16="http://schemas.microsoft.com/office/drawing/2014/main" val="2130014616"/>
                    </a:ext>
                  </a:extLst>
                </a:gridCol>
                <a:gridCol w="1446197">
                  <a:extLst>
                    <a:ext uri="{9D8B030D-6E8A-4147-A177-3AD203B41FA5}">
                      <a16:colId xmlns:a16="http://schemas.microsoft.com/office/drawing/2014/main" val="2207285291"/>
                    </a:ext>
                  </a:extLst>
                </a:gridCol>
              </a:tblGrid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Route_ID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Source_City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Destination_City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Expected_Hrs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Total_Shipments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Delayed_Beyond_Expected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Pct_Delayed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790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Johannesburg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Dubai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362955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Sydney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739625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London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 Angeles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857523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Dubai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243744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Sydney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Madrid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390353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 Angeles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54729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Tokyo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832487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Istanbul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57635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Seoul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468590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Tokyo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Sao Paulo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588928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Brussels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91.55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219924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91.18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242724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Frankfurt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Chicago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91.07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042014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Sao Paulo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Memphis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88.14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8409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Recommendations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highest delay and lowest efficiency to identify the 5 routes most needing intervention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231343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Routes recommended for optimization (worst delay + lowest efficiency)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r.Source_City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r.Destination_City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r.Distance_KM,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ROUND(AVG(s.Delay_Hours), 2) AS Avg_Delay_Hours,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ROUND(AVG(TIMESTAMPDIFF(HOUR, s.Pickup_Date, s.Delivery_Date)), 2) AS Avg_Transit_Hrs,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ROUND(r.Distance_KM 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NULLIF(AVG(TIMESTAMPDIFF(HOUR, s.Pickup_Date, s.Delivery_Date)), 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, 2) AS Efficiency_Ratio,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'Review &amp; Optimize' AS Recommendation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fedex_routes r ON s.Route_ID = r.Route_ID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s.Route_ID, r.Source_City, r.Destination_City, r.Distance_KM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Avg_Delay_Hours DESC, Efficiency_Ratio ASC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3575304"/>
            <a:ext cx="11521440" cy="329184"/>
          </a:xfrm>
          <a:prstGeom prst="rect">
            <a:avLst/>
          </a:prstGeom>
          <a:solidFill>
            <a:srgbClr val="065F4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75304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Top 10 Routes Recommended for </a:t>
            </a:r>
            <a:r>
              <a:rPr lang="en-US" sz="1400" b="1" dirty="0" err="1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142662"/>
              </p:ext>
            </p:extLst>
          </p:nvPr>
        </p:nvGraphicFramePr>
        <p:xfrm>
          <a:off x="320040" y="3959352"/>
          <a:ext cx="11521440" cy="281945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142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276">
                  <a:extLst>
                    <a:ext uri="{9D8B030D-6E8A-4147-A177-3AD203B41FA5}">
                      <a16:colId xmlns:a16="http://schemas.microsoft.com/office/drawing/2014/main" val="937908123"/>
                    </a:ext>
                  </a:extLst>
                </a:gridCol>
                <a:gridCol w="1263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8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89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15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19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Route_ID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Source_City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Destination_City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Distance_KM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Avg_Delay_Hours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Avg_Transit_Hrs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Efficiency_Ratio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Recommendation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Dubai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114.03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 &amp; Optimize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Sydney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74.71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 &amp; Optimize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Istanbul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 &amp; Optimize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60.21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 &amp; Optimize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57592"/>
                  </a:ext>
                </a:extLst>
              </a:tr>
              <a:tr h="2819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Tokyo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 &amp; Optimize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39303"/>
                  </a:ext>
                </a:extLst>
              </a:tr>
              <a:tr h="2819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London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 Angeles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57.13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175.46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 &amp; Optimize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611055"/>
                  </a:ext>
                </a:extLst>
              </a:tr>
              <a:tr h="2819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83.76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102.14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 &amp; Optimize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455235"/>
                  </a:ext>
                </a:extLst>
              </a:tr>
              <a:tr h="2819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Sao Paulo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Memphis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123.43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 &amp; Optimize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269591"/>
                  </a:ext>
                </a:extLst>
              </a:tr>
              <a:tr h="2819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Chicago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Brussels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179.19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 &amp; Optimize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467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Performance Analysis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analyses to rank warehouses by delay, identify outliers via CTEs, and measure on-time delivery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11521440" cy="118872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54864" cy="118872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44168"/>
            <a:ext cx="329184" cy="329184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441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9264" y="134416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2D2D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Top 3 Warehouses — Highest Avg Delay</a:t>
            </a:r>
            <a:endParaRPr lang="en-US" sz="1300" dirty="0">
              <a:latin typeface="Sitka Small Semibold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9264" y="170992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JOIN Warehouses → GROUP BY Warehouse_ID → AVG(Delay_Hours) → ORDER DESC LIMIT 3</a:t>
            </a:r>
          </a:p>
        </p:txBody>
      </p:sp>
      <p:sp>
        <p:nvSpPr>
          <p:cNvPr id="13" name="Shape 11"/>
          <p:cNvSpPr/>
          <p:nvPr/>
        </p:nvSpPr>
        <p:spPr>
          <a:xfrm>
            <a:off x="320040" y="2587752"/>
            <a:ext cx="11521440" cy="118872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587752"/>
            <a:ext cx="54864" cy="1188720"/>
          </a:xfrm>
          <a:prstGeom prst="rect">
            <a:avLst/>
          </a:prstGeom>
          <a:solidFill>
            <a:srgbClr val="FFC000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697480"/>
            <a:ext cx="329184" cy="329184"/>
          </a:xfrm>
          <a:prstGeom prst="ellipse">
            <a:avLst/>
          </a:prstGeom>
          <a:solidFill>
            <a:srgbClr val="FFC000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97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269748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Total vs Delayed Shipments per Warehouse</a:t>
            </a:r>
            <a:endParaRPr lang="en-US" sz="1300" dirty="0">
              <a:solidFill>
                <a:srgbClr val="FFC000"/>
              </a:solidFill>
              <a:latin typeface="Sitka Small Semibold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9264" y="306324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CASE WHEN Delay_Hours &gt; 0 counts delayed; same denominator gives delay % per hub</a:t>
            </a:r>
          </a:p>
        </p:txBody>
      </p:sp>
      <p:sp>
        <p:nvSpPr>
          <p:cNvPr id="19" name="Shape 17"/>
          <p:cNvSpPr/>
          <p:nvPr/>
        </p:nvSpPr>
        <p:spPr>
          <a:xfrm>
            <a:off x="320040" y="3941064"/>
            <a:ext cx="11521440" cy="118872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941064"/>
            <a:ext cx="54864" cy="1188720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050792"/>
            <a:ext cx="329184" cy="329184"/>
          </a:xfrm>
          <a:prstGeom prst="ellipse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50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9264" y="405079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148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CTE: Exceeds Global Average Delay</a:t>
            </a:r>
            <a:endParaRPr lang="en-US" sz="1300" dirty="0">
              <a:latin typeface="Sitka Small Semibold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69264" y="441655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Two CTEs (GlobalAvg + WarehouseAvg) + CROSS JOIN → isolates hubs above company benchmark</a:t>
            </a:r>
          </a:p>
        </p:txBody>
      </p:sp>
      <p:sp>
        <p:nvSpPr>
          <p:cNvPr id="25" name="Shape 23"/>
          <p:cNvSpPr/>
          <p:nvPr/>
        </p:nvSpPr>
        <p:spPr>
          <a:xfrm>
            <a:off x="320040" y="5294376"/>
            <a:ext cx="11521440" cy="118872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5294376"/>
            <a:ext cx="54864" cy="11887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5404104"/>
            <a:ext cx="329184" cy="329184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54041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9264" y="5404104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Rank All Warehouses — On-Time Delivery %</a:t>
            </a:r>
            <a:endParaRPr lang="en-US" sz="1300" dirty="0">
              <a:latin typeface="Sitka Small Semibold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9264" y="576986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RANK() OVER (ORDER BY on-time ratio DESC) → full ranking of all warehouses best to worst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Warehouses — Highest Average Delay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3 warehouse hubs dispatching shipments with the highest average delay hours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1850916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15308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Top 3 warehouses with highest average delay in dispatched shipments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s.Warehouse_ID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w.City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w.Country,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ROUND(AVG(s.Delay_Hours), 2)   AS Avg_Delay_Hours,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COUNT(s.Shipment_ID)           AS Total_Shipments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fedex_warehouses w ON s.Warehouse_ID = w.Warehouse_ID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s.Warehouse_ID, w.City, w.Country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Avg_Delay_Hours DESC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3;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3044952"/>
            <a:ext cx="11521440" cy="329184"/>
          </a:xfrm>
          <a:prstGeom prst="rect">
            <a:avLst/>
          </a:prstGeom>
          <a:solidFill>
            <a:srgbClr val="A32D2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44952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Top 3 Most Delayed Warehouses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487017"/>
              </p:ext>
            </p:extLst>
          </p:nvPr>
        </p:nvGraphicFramePr>
        <p:xfrm>
          <a:off x="320040" y="3429000"/>
          <a:ext cx="11521440" cy="146304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Warehouse_ID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Country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Avg_Delay_Hours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Total_Shipments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25.88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London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25.54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Netherlands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24.35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vs Delayed Shipments per Warehouse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delayed count, on-time count and delay percentage for every warehouse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208483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16797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 shipments vs delayed shipments per warehouse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s.Warehouse_ID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w.City,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AS Total_Shipments,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SUM(CASE WHEN s.Delay_Hours &gt; 0 THEN 1 ELSE 0 END) AS Delayed_Shipments,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SUM(CASE WHEN s.Delay_Hours = 0 THEN 1 ELSE 0 END) AS OnTime_Shipments,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SUM(CASE WHEN s.Delay_Hours &gt; 0 THEN 1 ELSE 0 END) / COUNT(*) * 100, 2) AS Delay_Pct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fedex_warehouses w ON s.Warehouse_ID = w.Warehouse_ID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s.Warehouse_ID, w.City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Delay_Pct DESC;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3236976"/>
            <a:ext cx="11521440" cy="329184"/>
          </a:xfrm>
          <a:prstGeom prst="rect">
            <a:avLst/>
          </a:prstGeom>
          <a:solidFill>
            <a:srgbClr val="92400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36976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170097"/>
              </p:ext>
            </p:extLst>
          </p:nvPr>
        </p:nvGraphicFramePr>
        <p:xfrm>
          <a:off x="320040" y="3621023"/>
          <a:ext cx="11521440" cy="3233054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787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6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6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27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Warehouse_ID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Total_Shipments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Delayed_Shipments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OnTime_Shipments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Delay_%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Tokyo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97.92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Chicago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94.95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94.44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93.81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94348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London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93.46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78718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Memphis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93.2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45896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Madrid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92.31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6645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92.16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4762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Johannesburg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91.26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14681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89.29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4126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CTE: Warehouses Exceeding Global Average Delay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CTEs + CROSS JOIN to identify warehouses performing worse than the company-wide benchmark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6766560" cy="3477697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6492240" cy="30742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CTE Step 1: Calculate global average delay (single number)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GlobalAvg AS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ROUND(AVG(Delay_Hours), 2) AS Global_Avg_Delay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fedex_shipments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CTE Step 2: Calculate per-warehouse average delay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WarehouseAvg AS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s.Warehouse_ID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w.City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w.Country,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ROUND(AVG(s.Delay_Hours), 2) AS Warehouse_Avg_Delay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JOIN fedex_warehouses w ON s.Warehouse_ID = w.Warehouse_ID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 BY s.Warehouse_ID, w.City,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w.Country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Final SELECT: Compare each warehouse to the global average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wa.Warehouse_ID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wa.City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wa.Country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wa.Warehouse_Avg_Delay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ga.Global_Avg_Delay,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ROUND(wa.Warehouse_Avg_Delay - ga.Global_Avg_Delay, 2)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 Above_Global_By_Hrs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WarehouseAvg wa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 JOIN GlobalAvg ga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wa.Warehouse_Avg_Delay &gt; ga.Global_Avg_Delay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wa.Warehouse_Avg_Delay DESC;</a:t>
            </a:r>
            <a:endParaRPr lang="en-US" sz="850" dirty="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CC6370BB-309B-6C0F-DCB8-17CEB45DB328}"/>
              </a:ext>
            </a:extLst>
          </p:cNvPr>
          <p:cNvSpPr/>
          <p:nvPr/>
        </p:nvSpPr>
        <p:spPr>
          <a:xfrm rot="16200000">
            <a:off x="7284877" y="855708"/>
            <a:ext cx="853810" cy="115979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graphicFrame>
        <p:nvGraphicFramePr>
          <p:cNvPr id="38" name="Table 0">
            <a:extLst>
              <a:ext uri="{FF2B5EF4-FFF2-40B4-BE49-F238E27FC236}">
                <a16:creationId xmlns:a16="http://schemas.microsoft.com/office/drawing/2014/main" id="{99BA711D-338D-3655-E18A-1442978DBE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26510"/>
              </p:ext>
            </p:extLst>
          </p:nvPr>
        </p:nvGraphicFramePr>
        <p:xfrm>
          <a:off x="320039" y="4699752"/>
          <a:ext cx="11662854" cy="2135441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57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6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52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5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Warehouse_ID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Country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Warehouse_Avg_Delay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Global_Avg_Delay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Above_Global_By_Hrs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25.88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21.41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London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25.54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21.41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Netherlands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24.35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21.41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2.94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Canada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22.43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21.41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1.02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612390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Tokyo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Japan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22.06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21.41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0.65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8183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Johannesburg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South Africa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53937"/>
                  </a:ext>
                </a:extLst>
              </a:tr>
            </a:tbl>
          </a:graphicData>
        </a:graphic>
      </p:graphicFrame>
      <p:sp>
        <p:nvSpPr>
          <p:cNvPr id="17" name="Text 15"/>
          <p:cNvSpPr/>
          <p:nvPr/>
        </p:nvSpPr>
        <p:spPr>
          <a:xfrm>
            <a:off x="6983679" y="1024128"/>
            <a:ext cx="10972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GlobalAvg</a:t>
            </a:r>
            <a:endParaRPr lang="en-US" sz="1000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E6704ECD-8C37-1BF3-8AA7-20608D124570}"/>
              </a:ext>
            </a:extLst>
          </p:cNvPr>
          <p:cNvSpPr/>
          <p:nvPr/>
        </p:nvSpPr>
        <p:spPr>
          <a:xfrm rot="16200000">
            <a:off x="8012979" y="1534038"/>
            <a:ext cx="853810" cy="115979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235DE851-1BE6-19A4-8C28-17C604816C44}"/>
              </a:ext>
            </a:extLst>
          </p:cNvPr>
          <p:cNvSpPr/>
          <p:nvPr/>
        </p:nvSpPr>
        <p:spPr>
          <a:xfrm rot="16200000">
            <a:off x="10202092" y="3647491"/>
            <a:ext cx="853810" cy="115979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6697024-8C46-7A6F-AFBD-4BC44B7015A8}"/>
              </a:ext>
            </a:extLst>
          </p:cNvPr>
          <p:cNvSpPr/>
          <p:nvPr/>
        </p:nvSpPr>
        <p:spPr>
          <a:xfrm rot="16200000">
            <a:off x="8741082" y="2196942"/>
            <a:ext cx="853810" cy="115979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845A08EB-35C0-5D30-5C2F-9625929D7CB3}"/>
              </a:ext>
            </a:extLst>
          </p:cNvPr>
          <p:cNvSpPr/>
          <p:nvPr/>
        </p:nvSpPr>
        <p:spPr>
          <a:xfrm rot="16200000">
            <a:off x="9469186" y="2874858"/>
            <a:ext cx="853810" cy="115979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sp>
        <p:nvSpPr>
          <p:cNvPr id="21" name="Text 19"/>
          <p:cNvSpPr/>
          <p:nvPr/>
        </p:nvSpPr>
        <p:spPr>
          <a:xfrm>
            <a:off x="7807505" y="1687032"/>
            <a:ext cx="10972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WarehouseAvg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03147" y="3758184"/>
            <a:ext cx="10972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37563" y="3029377"/>
            <a:ext cx="10972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32727" y="2349936"/>
            <a:ext cx="10972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All Warehouses — On-Time Delivery 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RANK() window function to rank every warehouse from best to worst on-time performance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49415" cy="34747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4549415" cy="26517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9117" y="114757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4412255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Rank all warehouses by on-time delivery percentage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s.Warehouse_ID,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w.City,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AS Total_Shipments,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SUM(CASE WHEN s.Delay_Hours = 0 THEN 1 ELSE 0 END) AS OnTime_Deliveries,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SUM(CASE WHEN s.Delay_Hours = 0 THEN 1 ELSE 0 END) / COUNT(*) * 100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, 2) AS OnTime_Pct,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RANK() OVER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ORDER BY SUM(CASE WHEN s.Delay_Hours = 0 THEN 1 ELSE 0 END)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/ COUNT(*) DESC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AS Warehouse_Rank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fedex_warehouses w ON s.Warehouse_ID = w.Warehouse_ID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s.Warehouse_ID, w.City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OnTime_Pct DESC;</a:t>
            </a:r>
            <a:endParaRPr lang="en-US" sz="85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B3296650-B4D6-D6D7-1425-20E809B2E937}"/>
              </a:ext>
            </a:extLst>
          </p:cNvPr>
          <p:cNvSpPr/>
          <p:nvPr/>
        </p:nvSpPr>
        <p:spPr>
          <a:xfrm>
            <a:off x="5006615" y="1106424"/>
            <a:ext cx="7185385" cy="320040"/>
          </a:xfrm>
          <a:prstGeom prst="rect">
            <a:avLst/>
          </a:prstGeom>
          <a:solidFill>
            <a:srgbClr val="4D14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26919E34-15D8-E41D-9864-FAC65F923387}"/>
              </a:ext>
            </a:extLst>
          </p:cNvPr>
          <p:cNvSpPr/>
          <p:nvPr/>
        </p:nvSpPr>
        <p:spPr>
          <a:xfrm>
            <a:off x="4887485" y="1106424"/>
            <a:ext cx="747590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Warehouse On-Time Delivery Ranking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A190F0BA-1F3D-5480-9289-5D2D5823B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675482"/>
              </p:ext>
            </p:extLst>
          </p:nvPr>
        </p:nvGraphicFramePr>
        <p:xfrm>
          <a:off x="5006615" y="1481328"/>
          <a:ext cx="7082541" cy="4438214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153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6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4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7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5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Warehouse_ID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Total_Shipments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OnTime_Deliveries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OnTime</a:t>
                      </a: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_%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Warehouse_Rank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Johannesburg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Madrid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Memphis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356775"/>
                  </a:ext>
                </a:extLst>
              </a:tr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London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860853"/>
                  </a:ext>
                </a:extLst>
              </a:tr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86146"/>
                  </a:ext>
                </a:extLst>
              </a:tr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885363"/>
                  </a:ext>
                </a:extLst>
              </a:tr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Chicago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773592"/>
                  </a:ext>
                </a:extLst>
              </a:tr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Tokyo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4986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Agent Performance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analyses to rank agents, flag underperformers, and compare top vs bottom 5 by experience and rating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11521440" cy="155448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71600"/>
            <a:ext cx="54864" cy="1554480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36192"/>
            <a:ext cx="384048" cy="384048"/>
          </a:xfrm>
          <a:prstGeom prst="ellipse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36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4128" y="1536192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148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Rank Agents per Route — On-Time %</a:t>
            </a:r>
            <a:endParaRPr lang="en-US" sz="1400" dirty="0">
              <a:latin typeface="Sitka Small Semibold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4128" y="1965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RANK() OVER (PARTITION BY Route_ID) ranks every agent within their specific route context</a:t>
            </a:r>
          </a:p>
        </p:txBody>
      </p:sp>
      <p:sp>
        <p:nvSpPr>
          <p:cNvPr id="13" name="Shape 11"/>
          <p:cNvSpPr/>
          <p:nvPr/>
        </p:nvSpPr>
        <p:spPr>
          <a:xfrm>
            <a:off x="320040" y="3108960"/>
            <a:ext cx="11521440" cy="155448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108960"/>
            <a:ext cx="54864" cy="15544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273552"/>
            <a:ext cx="384048" cy="38404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73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24128" y="3273552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2D2D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Agents Below 85% On-Time</a:t>
            </a:r>
            <a:endParaRPr lang="en-US" sz="1400" dirty="0">
              <a:latin typeface="Sitka Small Semibold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24128" y="3703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GROUP BY Agent_ID → calculate on-time % → HAVING &lt; 85 flags all underperforming agents</a:t>
            </a:r>
          </a:p>
        </p:txBody>
      </p:sp>
      <p:sp>
        <p:nvSpPr>
          <p:cNvPr id="19" name="Shape 17"/>
          <p:cNvSpPr/>
          <p:nvPr/>
        </p:nvSpPr>
        <p:spPr>
          <a:xfrm>
            <a:off x="320040" y="4846320"/>
            <a:ext cx="11521440" cy="155448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4846320"/>
            <a:ext cx="54864" cy="1554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5010912"/>
            <a:ext cx="384048" cy="384048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5010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24128" y="5010912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Top 5 vs Bottom 5 Agent Comparison</a:t>
            </a:r>
            <a:endParaRPr lang="en-US" sz="1400" dirty="0">
              <a:latin typeface="Sitka Small Semibold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24128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Two separate ranked subqueries (ORDER BY ASC/DESC LIMIT 5) combined with UNION ALL for side-by-side view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Agents per Route — On-Time Delivery 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OVER (PARTITION BY Route_ID) to score each agent within their assigned route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2391156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" y="1115568"/>
            <a:ext cx="45719" cy="2391156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00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Why PARTITION BY </a:t>
            </a:r>
            <a:r>
              <a:rPr lang="en-US" sz="1200" b="1" dirty="0" err="1">
                <a:solidFill>
                  <a:srgbClr val="C00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Route_ID</a:t>
            </a:r>
            <a:r>
              <a:rPr lang="en-US" sz="1200" b="1" dirty="0">
                <a:solidFill>
                  <a:srgbClr val="C00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?</a:t>
            </a:r>
          </a:p>
        </p:txBody>
      </p:sp>
      <p:sp>
        <p:nvSpPr>
          <p:cNvPr id="11" name="Text 9"/>
          <p:cNvSpPr/>
          <p:nvPr/>
        </p:nvSpPr>
        <p:spPr>
          <a:xfrm>
            <a:off x="649224" y="148132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An agent on a short local route faces different conditions than one on a long international route</a:t>
            </a:r>
          </a:p>
        </p:txBody>
      </p:sp>
      <p:sp>
        <p:nvSpPr>
          <p:cNvPr id="13" name="Text 11"/>
          <p:cNvSpPr/>
          <p:nvPr/>
        </p:nvSpPr>
        <p:spPr>
          <a:xfrm>
            <a:off x="667512" y="194767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PARTITION BY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Route_ID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ensures fair comparison — agents only compete within the SAME route</a:t>
            </a:r>
          </a:p>
        </p:txBody>
      </p:sp>
      <p:sp>
        <p:nvSpPr>
          <p:cNvPr id="15" name="Text 13"/>
          <p:cNvSpPr/>
          <p:nvPr/>
        </p:nvSpPr>
        <p:spPr>
          <a:xfrm>
            <a:off x="649224" y="231800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On-Time =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Delay_Hours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= 0 (no delay recorded)</a:t>
            </a:r>
          </a:p>
        </p:txBody>
      </p:sp>
      <p:sp>
        <p:nvSpPr>
          <p:cNvPr id="17" name="Text 15"/>
          <p:cNvSpPr/>
          <p:nvPr/>
        </p:nvSpPr>
        <p:spPr>
          <a:xfrm>
            <a:off x="649224" y="266090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RANK() ties get same number; next rank skips accordingly (1, 1, 3...)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" y="304038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Results ordered by Route_ID then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Agent_Rank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for easy route-by-route review</a:t>
            </a:r>
          </a:p>
        </p:txBody>
      </p:sp>
      <p:sp>
        <p:nvSpPr>
          <p:cNvPr id="20" name="Shape 18"/>
          <p:cNvSpPr/>
          <p:nvPr/>
        </p:nvSpPr>
        <p:spPr>
          <a:xfrm>
            <a:off x="301752" y="3593592"/>
            <a:ext cx="4590288" cy="31089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" y="3593592"/>
            <a:ext cx="4572000" cy="306324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438912" y="3657600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65760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3657600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06824" y="364388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38912" y="3913632"/>
            <a:ext cx="4453128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Rank delivery agents per route by on-time delivery %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s.Agent_ID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a.Agent_Name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a.Zone,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AS Total_Deliveries,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SUM(CASE WHEN s.Delay_Hours = 0 THEN 1 ELSE 0 END) AS OnTime_Deliveries,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SUM(CASE WHEN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s.Delay_Hours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 THEN 1 ELSE 0 END) 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 COUNT(*) * 100, 2) AS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OnTime_Pct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RANK() OVER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PARTITION BY s.Route_ID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ORDER BY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SUM(CASE WHEN s.Delay_Hours = 0 THEN 1 ELSE 0 END) 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 COUNT(*) DESC) AS Agent_Rank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fedex_delivery_agents a ON s.Agent_ID = a.Agent_ID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s.Route_ID, s.Agent_ID, a.Agent_Name, a.Zone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s.Route_ID, Agent_Rank;</a:t>
            </a:r>
            <a:endParaRPr lang="en-US" sz="850" dirty="0"/>
          </a:p>
        </p:txBody>
      </p:sp>
      <p:graphicFrame>
        <p:nvGraphicFramePr>
          <p:cNvPr id="30" name="Table 0">
            <a:extLst>
              <a:ext uri="{FF2B5EF4-FFF2-40B4-BE49-F238E27FC236}">
                <a16:creationId xmlns:a16="http://schemas.microsoft.com/office/drawing/2014/main" id="{B3FAEFB9-D631-FBA3-1368-77F91C0EE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259164"/>
              </p:ext>
            </p:extLst>
          </p:nvPr>
        </p:nvGraphicFramePr>
        <p:xfrm>
          <a:off x="5212081" y="1032391"/>
          <a:ext cx="6766560" cy="5754065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780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5946">
                  <a:extLst>
                    <a:ext uri="{9D8B030D-6E8A-4147-A177-3AD203B41FA5}">
                      <a16:colId xmlns:a16="http://schemas.microsoft.com/office/drawing/2014/main" val="1140869547"/>
                    </a:ext>
                  </a:extLst>
                </a:gridCol>
                <a:gridCol w="1349850">
                  <a:extLst>
                    <a:ext uri="{9D8B030D-6E8A-4147-A177-3AD203B41FA5}">
                      <a16:colId xmlns:a16="http://schemas.microsoft.com/office/drawing/2014/main" val="1517254688"/>
                    </a:ext>
                  </a:extLst>
                </a:gridCol>
                <a:gridCol w="9721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2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Route_ID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Agent_ID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Zone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Total_Deliveries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OnTime_Deliveries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OnTime</a:t>
                      </a: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_%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Agent_Rank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Istanbul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Seoul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842476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Istanbul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343144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461877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Seoul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966552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679122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16300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Madrid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678975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Memphis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499897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Brussels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698901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628873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Dubai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986599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723750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Mexico 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12794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Sydney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148016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707579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702682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534416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8259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with On-Time % Below 85%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all delivery agents failing to meet the minimum 85% on-time delivery threshold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974336" cy="261518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4974336" cy="32004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179576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4782312" cy="1837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Find all agents whose on-time delivery percentage is below 85%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s.Agent_ID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a.Agent_Name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a.Zone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a.Experience_Years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Exp_Years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b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a.Avg_Rating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AS Total_Deliveries,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SUM(CASE WHEN s.Delay_Hours = 0 THEN 1 ELSE 0 END) / COUNT(*) * 100, 2) AS  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OnTime_Pct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fedex_delivery_agents a ON s.Agent_ID = a.Agent_ID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s.Agent_ID, a.Agent_Name, a.Zone, a.Experience_Years, a.Avg_Rating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OnTime_Pct &lt; 85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OnTime_Pct ASC;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30952" y="1106424"/>
            <a:ext cx="6830568" cy="329184"/>
          </a:xfrm>
          <a:prstGeom prst="rect">
            <a:avLst/>
          </a:prstGeom>
          <a:solidFill>
            <a:srgbClr val="A32D2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1536" y="1106424"/>
            <a:ext cx="6729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Below 85% On-Time Threshold</a:t>
            </a:r>
            <a:endParaRPr lang="en-US" sz="100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453AC742-DEB6-1B17-17F4-C716B9E0E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252417"/>
              </p:ext>
            </p:extLst>
          </p:nvPr>
        </p:nvGraphicFramePr>
        <p:xfrm>
          <a:off x="5385817" y="1508758"/>
          <a:ext cx="6729984" cy="5222381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791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1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0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8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7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630">
                  <a:extLst>
                    <a:ext uri="{9D8B030D-6E8A-4147-A177-3AD203B41FA5}">
                      <a16:colId xmlns:a16="http://schemas.microsoft.com/office/drawing/2014/main" val="607090252"/>
                    </a:ext>
                  </a:extLst>
                </a:gridCol>
              </a:tblGrid>
              <a:tr h="647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Agent_ID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Agent_Name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Zone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Exp_Years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Avg_Rating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Ttl_Deliveries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OnTime</a:t>
                      </a: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_%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Elliot Rodriguez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Memphis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Reese Brown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Tokyo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Elliot Brown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Dubai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Reese Martinez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Dubai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Jamie Martinez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Mexico 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595539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Jordan Jones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Johannesburg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29989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Noah Jackson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Brussels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335677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Cameron Lopez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Memphis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346870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Jamie Jones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905724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Reese Williams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Madrid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852745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Sam Brown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61447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Avery Jones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78362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Jordan Martin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809502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Cameron Garcia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Sydney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730720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Noah Gonzalez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562345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Riley Garcia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Istanbul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7.2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3.85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679253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Blake Davis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Madrid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846147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Jordan Rodriguez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Los Angeles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182686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Alex Anderson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618785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Zoe Thomas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3591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vs Bottom 5 Agents — Comparison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experience and rating of best vs worst agents to identify training gaps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5449824" cy="285292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49824" cy="237744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655064"/>
            <a:ext cx="5093208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5 vs Bottom 5 using UNION ALL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'Top 5' AS Category, a.Agent_ID, a.Agent_Name, a.Avg_Rating, a.Experience_Years,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ROUND(SUM(CASE WHEN s.Delay_Hours = 0 THEN 1 ELSE 0 END)/COUNT(*)*100,2) AS OnTime_Pct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fedex_shipments s JOIN fedex_delivery_agents a ON s.Agent_ID = a.Agent_ID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 BY a.Agent_ID, a.Agent_Name, a.Avg_Rating, a.Experience_Years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BY OnTime_Pct DESC LIMIT 5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top5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 ALL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'Bottom 5' AS Category, a.Agent_ID, a.Agent_Name, a.Avg_Rating, a.Experience_Years,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ROUND(SUM(CASE WHEN s.Delay_Hours = 0 THEN 1 ELSE 0 END)/COUNT(*)*100,2) AS OnTime_Pct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fedex_shipments s JOIN fedex_delivery_agents a ON s.Agent_ID = a.Agent_ID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 BY a.Agent_ID, a.Agent_Name, a.Avg_Rating, a.Experience_Years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BY OnTime_Pct ASC LIMIT 5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bot5;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" y="6291072"/>
            <a:ext cx="11521440" cy="43891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3276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rgbClr val="FFC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Insight:</a:t>
            </a:r>
            <a:r>
              <a:rPr lang="en-IN" sz="1100" dirty="0">
                <a:solidFill>
                  <a:schemeClr val="accent6">
                    <a:lumMod val="75000"/>
                  </a:schemeClr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 Top-performing</a:t>
            </a:r>
            <a:r>
              <a:rPr lang="en-IN" sz="1100" dirty="0">
                <a:solidFill>
                  <a:schemeClr val="accent6">
                    <a:lumMod val="75000"/>
                  </a:schemeClr>
                </a:solidFill>
                <a:latin typeface="Sitka Small Semibold" pitchFamily="2" charset="0"/>
              </a:rPr>
              <a:t> agents achieve up to </a:t>
            </a:r>
            <a:r>
              <a:rPr lang="en-IN" sz="1100" b="1" dirty="0">
                <a:solidFill>
                  <a:schemeClr val="accent6">
                    <a:lumMod val="75000"/>
                  </a:schemeClr>
                </a:solidFill>
                <a:latin typeface="Sitka Small Semibold" pitchFamily="2" charset="0"/>
              </a:rPr>
              <a:t>23.81% on-time deliveries</a:t>
            </a:r>
            <a:r>
              <a:rPr lang="en-IN" sz="1100" dirty="0">
                <a:solidFill>
                  <a:schemeClr val="accent6">
                    <a:lumMod val="75000"/>
                  </a:schemeClr>
                </a:solidFill>
                <a:latin typeface="Sitka Small Semibold" pitchFamily="2" charset="0"/>
              </a:rPr>
              <a:t>, while the bottom-performing agents record </a:t>
            </a:r>
            <a:r>
              <a:rPr lang="en-IN" sz="1100" b="1" dirty="0">
                <a:solidFill>
                  <a:schemeClr val="accent6">
                    <a:lumMod val="75000"/>
                  </a:schemeClr>
                </a:solidFill>
                <a:latin typeface="Sitka Small Semibold" pitchFamily="2" charset="0"/>
              </a:rPr>
              <a:t>0% on-time performance</a:t>
            </a:r>
            <a:r>
              <a:rPr lang="en-IN" sz="1100" dirty="0">
                <a:solidFill>
                  <a:schemeClr val="accent6">
                    <a:lumMod val="75000"/>
                  </a:schemeClr>
                </a:solidFill>
                <a:latin typeface="Sitka Small Semibold" pitchFamily="2" charset="0"/>
              </a:rPr>
              <a:t>, highlighting a significant gap in delivery efficiency despite maintaining similar customer ratings.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>
              <a:solidFill>
                <a:schemeClr val="accent6">
                  <a:lumMod val="75000"/>
                </a:schemeClr>
              </a:solidFill>
              <a:latin typeface="Sitka Small Semibold" pitchFamily="2" charset="0"/>
            </a:endParaRPr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FECDEFC3-C59F-33AE-E102-5D1C95278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140318"/>
              </p:ext>
            </p:extLst>
          </p:nvPr>
        </p:nvGraphicFramePr>
        <p:xfrm>
          <a:off x="5852160" y="1097279"/>
          <a:ext cx="6227063" cy="5012844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877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4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Category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Agent_ID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Agent_Name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Avg_Rating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Experience_Years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OnTime_Pct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Taylor Garcia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Jamie Lopez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Noah Moore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Cameron Garcia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Mia Taylor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595539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Bottom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Elliot Rodriguez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29989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Bottom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Reese Brown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335677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Bottom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Elliot Brown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852745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Bottom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Reese Martinez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61447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Bottom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Jamie Martinez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783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Status &amp; Bottleneck Analysis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queries to track shipment states, identify stuck routes, find delay causes, and flag critical bottlenecks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11521440" cy="118872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54864" cy="1188720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44168"/>
            <a:ext cx="329184" cy="329184"/>
          </a:xfrm>
          <a:prstGeom prst="ellipse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441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9264" y="134416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148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Latest</a:t>
            </a:r>
            <a:r>
              <a:rPr lang="en-US" sz="13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Status per Shipment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9264" y="170992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SELECT Delivery_Status + DATE_FORMAT(Delivery_Date) — current state of every shipment in the system</a:t>
            </a:r>
          </a:p>
        </p:txBody>
      </p:sp>
      <p:sp>
        <p:nvSpPr>
          <p:cNvPr id="13" name="Shape 11"/>
          <p:cNvSpPr/>
          <p:nvPr/>
        </p:nvSpPr>
        <p:spPr>
          <a:xfrm>
            <a:off x="320040" y="2587752"/>
            <a:ext cx="11521440" cy="118872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587752"/>
            <a:ext cx="54864" cy="11887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697480"/>
            <a:ext cx="329184" cy="329184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97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269748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Routes with Majority In Transit / Returned</a:t>
            </a:r>
            <a:endParaRPr lang="en-US" sz="1300" dirty="0">
              <a:latin typeface="Sitka Small Semibold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9264" y="306324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HAVING (stuck shipments / total) * 100 &gt; 50 — routes where most orders haven't been delivered</a:t>
            </a:r>
          </a:p>
        </p:txBody>
      </p:sp>
      <p:sp>
        <p:nvSpPr>
          <p:cNvPr id="19" name="Shape 17"/>
          <p:cNvSpPr/>
          <p:nvPr/>
        </p:nvSpPr>
        <p:spPr>
          <a:xfrm>
            <a:off x="320040" y="3941064"/>
            <a:ext cx="11521440" cy="118872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941064"/>
            <a:ext cx="54864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050792"/>
            <a:ext cx="329184" cy="32918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50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9264" y="405079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Most Frequent Delay Reasons</a:t>
            </a:r>
            <a:endParaRPr lang="en-US" sz="1300" dirty="0">
              <a:latin typeface="Sitka Small Semibold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69264" y="441655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GROUP BY Delivery_Feedback WHERE Delay_Hours &gt; 0 → frequency count of each delay reason</a:t>
            </a:r>
          </a:p>
        </p:txBody>
      </p:sp>
      <p:sp>
        <p:nvSpPr>
          <p:cNvPr id="25" name="Shape 23"/>
          <p:cNvSpPr/>
          <p:nvPr/>
        </p:nvSpPr>
        <p:spPr>
          <a:xfrm>
            <a:off x="320040" y="5294376"/>
            <a:ext cx="11521440" cy="118872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5294376"/>
            <a:ext cx="54864" cy="118872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5404104"/>
            <a:ext cx="329184" cy="329184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54041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9264" y="5404104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2D2D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Bottleneck Orders (&gt;120 Hours Delay)</a:t>
            </a:r>
            <a:endParaRPr lang="en-US" sz="1300" dirty="0">
              <a:latin typeface="Sitka Small Semibold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9264" y="576986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WHERE Delay_Hours &gt; 120 → full context: route, agent, warehouse, status, feedback for investigation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Shipment Status &amp; Delivery Date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current delivery status and formatted delivery timestamp for every shipment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11521440" cy="130759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Latest delivery status and date per shipment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Shipment_ID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Delivery_Status,</a:t>
            </a:r>
            <a:endParaRPr lang="en-US" sz="850" dirty="0"/>
          </a:p>
          <a:p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DATE_FORMAT(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Delivery_Date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'%Y-%m-%d %H:%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:%s') AS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Latest_Delivery_Date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Delay_Hours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Delivery_Date DESC;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441448"/>
            <a:ext cx="11521440" cy="329184"/>
          </a:xfrm>
          <a:prstGeom prst="rect">
            <a:avLst/>
          </a:prstGeom>
          <a:solidFill>
            <a:srgbClr val="4D14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41448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Latest Status Across Shipments</a:t>
            </a:r>
            <a:endParaRPr lang="en-US" sz="1200" dirty="0">
              <a:latin typeface="Sitka Small Semibold" pitchFamily="2" charset="0"/>
            </a:endParaRPr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509961"/>
              </p:ext>
            </p:extLst>
          </p:nvPr>
        </p:nvGraphicFramePr>
        <p:xfrm>
          <a:off x="320040" y="2825496"/>
          <a:ext cx="11521440" cy="402336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628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7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8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55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70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Shipment_ID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Agent_ID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Route_ID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Delivery_Status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Latest_Delivery_Date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Delay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S00547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O0228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07-10-2025 18:02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O0228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06-10-2025 21:53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S00693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O0228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06-10-2025 11:16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S00998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O0228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06-10-2025 00:40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7168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S00883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O0228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05-10-2025 02:02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5709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S00947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O0087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03-10-2025 00:15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1829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S00830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O0228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02-10-2025 17:04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7296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S00681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O0180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02-10-2025 11:32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7508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S00420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O0066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02-10-2025 03:06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69908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S00907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O0012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30-09-2025 22:29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2997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with Majority Shipments In Transit or Returned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routes where &gt;50% of shipments have NOT been successfully delivered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320040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32004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00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Why Simple WHERE Doesn't Work</a:t>
            </a:r>
          </a:p>
        </p:txBody>
      </p:sp>
      <p:sp>
        <p:nvSpPr>
          <p:cNvPr id="11" name="Text 9"/>
          <p:cNvSpPr/>
          <p:nvPr/>
        </p:nvSpPr>
        <p:spPr>
          <a:xfrm>
            <a:off x="649224" y="161848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WHERE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Delivery_Status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= 'In Transit' returns individual rows — no percentage</a:t>
            </a:r>
          </a:p>
        </p:txBody>
      </p:sp>
      <p:sp>
        <p:nvSpPr>
          <p:cNvPr id="13" name="Text 11"/>
          <p:cNvSpPr/>
          <p:nvPr/>
        </p:nvSpPr>
        <p:spPr>
          <a:xfrm>
            <a:off x="649224" y="213055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We need to compare stuck count vs TOTAL count per route group</a:t>
            </a:r>
          </a:p>
        </p:txBody>
      </p:sp>
      <p:sp>
        <p:nvSpPr>
          <p:cNvPr id="15" name="Text 13"/>
          <p:cNvSpPr/>
          <p:nvPr/>
        </p:nvSpPr>
        <p:spPr>
          <a:xfrm>
            <a:off x="649224" y="264261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This requires GROUP BY + HAVING (aggregate condition) — not WHERE</a:t>
            </a:r>
          </a:p>
        </p:txBody>
      </p:sp>
      <p:sp>
        <p:nvSpPr>
          <p:cNvPr id="17" name="Text 15"/>
          <p:cNvSpPr/>
          <p:nvPr/>
        </p:nvSpPr>
        <p:spPr>
          <a:xfrm>
            <a:off x="649224" y="315468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HAVING operates on groups AFTER aggregation is done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" y="366674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&gt;50% threshold identifies routes where the MAJORITY is stuck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42062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Routes where majority of shipments are In Transit/Returned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s.Route_ID,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r.Source_City,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r.Destination_City,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AS Total_Shipments,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SUM(CASE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WHEN s.Delivery_Status IN ('In Transit', 'Returned')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THEN 1 ELSE 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END) AS InTransit_Returned,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ROUND(SUM(CASE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WHEN s.Delivery_Status IN ('In Transit', 'Returned')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THEN 1 ELSE 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END) / COUNT(*) * 100, 2) AS Pct_Not_Delivered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fedex_routes r ON s.Route_ID = r.Route_ID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s.Route_ID, r.Source_City, r.Destination_City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Pct_Not_Delivered &gt; 50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Pct_Not_Delivered DESC;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74920" y="54406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897779"/>
              </p:ext>
            </p:extLst>
          </p:nvPr>
        </p:nvGraphicFramePr>
        <p:xfrm>
          <a:off x="5074920" y="5760720"/>
          <a:ext cx="6766560" cy="841248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Route_ID</a:t>
                      </a:r>
                      <a:endParaRPr lang="en-US" sz="1100" dirty="0">
                        <a:solidFill>
                          <a:schemeClr val="bg1"/>
                        </a:solidFill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solidFill>
                          <a:schemeClr val="bg1"/>
                        </a:solidFill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Destination</a:t>
                      </a:r>
                      <a:endParaRPr lang="en-US" sz="1100" dirty="0">
                        <a:solidFill>
                          <a:schemeClr val="bg1"/>
                        </a:solidFill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% Stuck</a:t>
                      </a:r>
                      <a:endParaRPr lang="en-US" sz="1100" dirty="0">
                        <a:solidFill>
                          <a:schemeClr val="bg1"/>
                        </a:solidFill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Delay Reasons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Delivery_Feedback to find the most common causes of delayed shipments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320040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3200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Why Delivery_Feedback?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9224" y="161848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No column named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Delay_Reason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exists in the dataset</a:t>
            </a:r>
          </a:p>
        </p:txBody>
      </p:sp>
      <p:sp>
        <p:nvSpPr>
          <p:cNvPr id="13" name="Text 11"/>
          <p:cNvSpPr/>
          <p:nvPr/>
        </p:nvSpPr>
        <p:spPr>
          <a:xfrm>
            <a:off x="649224" y="213055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Delivery_Feedback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is the closest column containing reason text</a:t>
            </a:r>
          </a:p>
        </p:txBody>
      </p:sp>
      <p:sp>
        <p:nvSpPr>
          <p:cNvPr id="15" name="Text 13"/>
          <p:cNvSpPr/>
          <p:nvPr/>
        </p:nvSpPr>
        <p:spPr>
          <a:xfrm>
            <a:off x="649224" y="264261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WHERE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Delay_Hours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&gt; 0 filters only actually delayed shipments</a:t>
            </a:r>
          </a:p>
        </p:txBody>
      </p:sp>
      <p:sp>
        <p:nvSpPr>
          <p:cNvPr id="17" name="Text 15"/>
          <p:cNvSpPr/>
          <p:nvPr/>
        </p:nvSpPr>
        <p:spPr>
          <a:xfrm>
            <a:off x="649224" y="315468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AND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Delivery_Feedback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IS NOT NULL excludes blank entries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" y="366674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GROUP BY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Delivery_Feedback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+ COUNT(*) ranks reasons by frequency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180136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Most frequent delay reasons via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Delivery_Feedback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Delivery_Feedback              AS Delay_Reason,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                      AS Frequency,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ROUND(AVG(Delay_Hours), 2)     AS Avg_Delay_Hours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Delay_Hours &gt; 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Delivery_Feedback IS NOT NULL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Delivery_Feedback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Frequency DESC;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74920" y="295351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148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200" dirty="0">
              <a:latin typeface="Sitka Small Semibold" pitchFamily="2" charset="0"/>
            </a:endParaRPr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766515"/>
              </p:ext>
            </p:extLst>
          </p:nvPr>
        </p:nvGraphicFramePr>
        <p:xfrm>
          <a:off x="5105400" y="3227832"/>
          <a:ext cx="6766560" cy="146304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Delay_Reason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Avg Delay (hrs)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latin typeface="Sitka Small Semibold" pitchFamily="2" charset="0"/>
                        </a:rPr>
                        <a:t>Positive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latin typeface="Sitka Small Semibold" pitchFamily="2" charset="0"/>
                        </a:rPr>
                        <a:t>708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latin typeface="Sitka Small Semibold" pitchFamily="2" charset="0"/>
                        </a:rPr>
                        <a:t>22.84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latin typeface="Sitka Small Semibold" pitchFamily="2" charset="0"/>
                        </a:rPr>
                        <a:t>Neutral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latin typeface="Sitka Small Semibold" pitchFamily="2" charset="0"/>
                        </a:rPr>
                        <a:t>150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latin typeface="Sitka Small Semibold" pitchFamily="2" charset="0"/>
                        </a:rPr>
                        <a:t>23.76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Sitka Small Semibold" pitchFamily="2" charset="0"/>
                        </a:rPr>
                        <a:t>Negative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latin typeface="Sitka Small Semibold" pitchFamily="2" charset="0"/>
                        </a:rPr>
                        <a:t>74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Sitka Small Semibold" pitchFamily="2" charset="0"/>
                        </a:rPr>
                        <a:t>22.63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" y="0"/>
            <a:ext cx="12161520" cy="1005840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624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624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7523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Orders — Delay &gt; 120 Hours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7523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exceptionally delayed shipments for root cause investigation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0520" y="1115568"/>
            <a:ext cx="11521440" cy="192938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052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76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88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00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1359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87680" y="1435608"/>
            <a:ext cx="112471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Identify orders with exceptionally high delay (&gt;120 hours)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s.Shipment_ID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s.Order_ID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s.Agent_ID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s.Warehouse_ID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s.Delay_Hours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s.Delivery_Status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s.Delivery_Feedback,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DATE_FORMAT(s.Pickup_Date,   '%Y-%m-%d %H:%i:%s') AS Pickup_Date,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DATE_FORMAT(s.Delivery_Date, '%Y-%m-%d %H:%i:%s') AS Delivery_Date,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r.Source_City,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r.Destination_City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fedex_routes r ON s.Route_ID = r.Route_ID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s.Delay_Hours &gt; 120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s.Delay_Hours DESC;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0520" y="3154680"/>
            <a:ext cx="11521440" cy="329184"/>
          </a:xfrm>
          <a:prstGeom prst="rect">
            <a:avLst/>
          </a:prstGeom>
          <a:solidFill>
            <a:srgbClr val="A32D2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680" y="3154680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Critical Bottleneck Shipments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297893"/>
              </p:ext>
            </p:extLst>
          </p:nvPr>
        </p:nvGraphicFramePr>
        <p:xfrm>
          <a:off x="350520" y="3648456"/>
          <a:ext cx="11521438" cy="3182112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271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8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4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3866">
                  <a:extLst>
                    <a:ext uri="{9D8B030D-6E8A-4147-A177-3AD203B41FA5}">
                      <a16:colId xmlns:a16="http://schemas.microsoft.com/office/drawing/2014/main" val="332516341"/>
                    </a:ext>
                  </a:extLst>
                </a:gridCol>
                <a:gridCol w="1710816">
                  <a:extLst>
                    <a:ext uri="{9D8B030D-6E8A-4147-A177-3AD203B41FA5}">
                      <a16:colId xmlns:a16="http://schemas.microsoft.com/office/drawing/2014/main" val="315462797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Shipment_ID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Order_ID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Route_ID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Delay_Hours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Delivery_Feedback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Destination_City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Pickup_Date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Delivery_Date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S00761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O0133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238.6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Neutral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Chicago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30-06-2025 18:53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12-07-2025 02:21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S00015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O0093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238.6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Neutral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Brussels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03-12-2024 18:23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14-12-2024 15:15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S00174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O0039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232.6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Positive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18-09-2025 05:50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28-09-2025 17:58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S00924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O0143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232.3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Positive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Memphis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24-09-2024 14:58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06-10-2024 06:22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S00490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O0094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230.1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Positive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Mexico 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07-06-2025 03:01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18-06-2025 18:31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5955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S00052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O0197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230.1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Positive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04-10-2024 13:21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15-10-2024 04:43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299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S00424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O0103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Positive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21-02-2025 23:20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04-03-2025 09:13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33567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S00965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O0241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226.1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Positive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Chicago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13-03-2025 13:19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23-03-2025 23:03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8527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metrics aggregated using CASE statements, JOINs, and GROUP BY across the full dataset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11521440" cy="932688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07008"/>
            <a:ext cx="54864" cy="9326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71600"/>
            <a:ext cx="411480" cy="32918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7160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42416" y="1316736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On-Time Delivery %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42416" y="1645920"/>
            <a:ext cx="10332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(SUM(CASE WHEN Delay_Hours=0 THEN 1 ELSE 0 END) / COUNT(*)) * 100</a:t>
            </a:r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11521440" cy="932688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286000"/>
            <a:ext cx="54864" cy="932688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450592"/>
            <a:ext cx="411480" cy="329184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5059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42416" y="239572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48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Avg Delay per Source Country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42416" y="2724912"/>
            <a:ext cx="10332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AVG(Delay_Hours) GROUP BY Source_Country ORDER BY DESC</a:t>
            </a:r>
          </a:p>
        </p:txBody>
      </p:sp>
      <p:sp>
        <p:nvSpPr>
          <p:cNvPr id="19" name="Shape 17"/>
          <p:cNvSpPr/>
          <p:nvPr/>
        </p:nvSpPr>
        <p:spPr>
          <a:xfrm>
            <a:off x="320040" y="3364992"/>
            <a:ext cx="11521440" cy="932688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364992"/>
            <a:ext cx="54864" cy="9326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529584"/>
            <a:ext cx="411480" cy="32918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5295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2416" y="347472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Avg Delay per Route_ID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42416" y="3803904"/>
            <a:ext cx="10332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AVG(Delay_Hours) GROUP BY Route_ID JOIN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fedex_routes</a:t>
            </a:r>
            <a:endParaRPr lang="en-US" sz="1100" dirty="0">
              <a:solidFill>
                <a:srgbClr val="0000FF"/>
              </a:solidFill>
              <a:latin typeface="Sitka Heading Semibold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" y="4443984"/>
            <a:ext cx="11521440" cy="932688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443984"/>
            <a:ext cx="54864" cy="93268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608576"/>
            <a:ext cx="411480" cy="32918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60857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42416" y="455371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Warehouse Utilization %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42416" y="4882896"/>
            <a:ext cx="10332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COUNT(Shipment_ID) / Capacity_per_day * 100 with CASE for status label</a:t>
            </a:r>
          </a:p>
        </p:txBody>
      </p:sp>
      <p:sp>
        <p:nvSpPr>
          <p:cNvPr id="31" name="Shape 29"/>
          <p:cNvSpPr/>
          <p:nvPr/>
        </p:nvSpPr>
        <p:spPr>
          <a:xfrm>
            <a:off x="320040" y="5522976"/>
            <a:ext cx="11521440" cy="932688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5522976"/>
            <a:ext cx="54864" cy="932688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5687568"/>
            <a:ext cx="411480" cy="329184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5687568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" y="5632704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32D2D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Full KPI Summary Table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42416" y="5961888"/>
            <a:ext cx="10332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Combined query: Source_Country + Route_ID + Warehouse_ID + all KPI metrics in one result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— Overall On-Time Delivery Percentage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aggregation across all shipments: what % were delivered with zero delay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30175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KPI: Overall on-time delivery percentage (Delay_Hours = 0 means on-time)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                                                                  AS Total_Deliveries,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SUM(CASE WHEN Delay_Hours = 0 THEN 1 ELSE 0 END)                          AS OnTime_Deliveries,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SUM(CASE WHEN Delay_Hours &gt; 0 THEN 1 ELSE 0 END)                          AS Delayed_Deliveries,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SUM(CASE WHEN Delay_Hours = 0 THEN 1 ELSE 0 END) / COUNT(*) * 100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, 2)                                                                       AS OnTime_Pct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4279392"/>
            <a:ext cx="1152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D148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KPI Result</a:t>
            </a:r>
            <a:endParaRPr lang="en-US" sz="1300" dirty="0">
              <a:latin typeface="Sitka Small Semibold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4663440"/>
            <a:ext cx="2834640" cy="749808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7091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" y="50657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Deliveries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4663440"/>
            <a:ext cx="2834640" cy="7498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47091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91840" y="50657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Deliveries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63640" y="4663440"/>
            <a:ext cx="2834640" cy="749808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47091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63640" y="50657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Deliveries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235440" y="4663440"/>
            <a:ext cx="2834640" cy="749808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0" y="47091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235440" y="50657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5577840"/>
            <a:ext cx="11247120" cy="43891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  <p:txBody>
          <a:bodyPr wrap="square" rtlCol="0" anchor="ctr"/>
          <a:lstStyle/>
          <a:p>
            <a:r>
              <a:rPr lang="en-US" sz="1200" dirty="0">
                <a:solidFill>
                  <a:srgbClr val="92400E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Insight:</a:t>
            </a:r>
            <a:r>
              <a:rPr lang="en-IN" sz="1200" dirty="0">
                <a:latin typeface="Sitka Small Semibold" pitchFamily="2" charset="0"/>
                <a:cs typeface="Lucida Sans Unicode" panose="020B0602030504020204" pitchFamily="34" charset="0"/>
              </a:rPr>
              <a:t> Only 6.8% of 1,000 shipments were delivered on time — 932 out of 1,000 (93.2%) experienced delays. This is a severe operational issue requiring immediate attention across routes, warehouses, and agent performance.</a:t>
            </a:r>
            <a:r>
              <a:rPr lang="en-US" sz="1200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Lucida Sans Unicode" panose="020B0602030504020204" pitchFamily="34" charset="0"/>
              </a:rPr>
              <a:t>.</a:t>
            </a:r>
            <a:endParaRPr lang="en-US" sz="1200" dirty="0">
              <a:latin typeface="Sitka Small Semibold" pitchFamily="2" charset="0"/>
              <a:cs typeface="Lucida Sans Unicode" panose="020B0602030504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— Average Delivery Delay per Source Country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delay hours by the origin country of each shipment route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1865376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Average delivery delay per source country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r.Source_Country,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COUNT(s.Shipment_ID)             AS Total_Shipments,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ROUND(AVG(s.Delay_Hours), 2)     AS Avg_Delay_Hours,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ROUND(MAX(s.Delay_Hours), 2)     AS Max_Delay_Hours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fedex_routes r ON s.Route_ID = r.Route_ID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r.Source_Country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Avg_Delay_Hours DESC;</a:t>
            </a:r>
            <a:endParaRPr lang="en-US" sz="85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7212BC4A-EBE1-0DEA-F60A-189038A45FAD}"/>
              </a:ext>
            </a:extLst>
          </p:cNvPr>
          <p:cNvSpPr/>
          <p:nvPr/>
        </p:nvSpPr>
        <p:spPr>
          <a:xfrm>
            <a:off x="320040" y="3090672"/>
            <a:ext cx="11521440" cy="329184"/>
          </a:xfrm>
          <a:prstGeom prst="rect">
            <a:avLst/>
          </a:prstGeom>
          <a:solidFill>
            <a:srgbClr val="4D148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3F2BE4D1-6181-0132-079B-58CBB042C2F4}"/>
              </a:ext>
            </a:extLst>
          </p:cNvPr>
          <p:cNvSpPr/>
          <p:nvPr/>
        </p:nvSpPr>
        <p:spPr>
          <a:xfrm>
            <a:off x="457200" y="3090672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Avg Delay by Source Country (Descending)</a:t>
            </a:r>
            <a:endParaRPr lang="en-US" sz="1200" dirty="0">
              <a:latin typeface="Sitka Small Semibold" pitchFamily="2" charset="0"/>
            </a:endParaRPr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46121C7F-0ED0-38F1-268C-63D1A977A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257663"/>
              </p:ext>
            </p:extLst>
          </p:nvPr>
        </p:nvGraphicFramePr>
        <p:xfrm>
          <a:off x="320040" y="3474720"/>
          <a:ext cx="10789920" cy="329184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Source_Country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Total_Shipments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Avg_Delay_Hours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Max_Delay_Hours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UAE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41.04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230.1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Turkey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32.8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232.6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32.53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32.18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213.1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29.86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220.8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France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25.88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Brazil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25.83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232.3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4170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South Korea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20.97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212.8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2052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— Average Delay per Route_ID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Per-route delay KPI with full source/destination context for reporting dashboard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189280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delay per Route_ID with full route details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r.Source_City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50" dirty="0"/>
              <a:t>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r.Source_Country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r.Destination_City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r.Destination_Country,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s.Shipment_ID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Total_Shipments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s.Delay_Hours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2) AS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Avg_Delay_Hours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fedex_routes r ON s.Route_ID = r.Route_ID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r.Source_City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r.Source_Country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r.Destination_City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r.Destination_Country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Avg_Delay_Hours DESC;</a:t>
            </a:r>
            <a:endParaRPr lang="en-US" sz="85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5FE0B087-1B3E-D4AF-ECA6-C6883BE1E0BE}"/>
              </a:ext>
            </a:extLst>
          </p:cNvPr>
          <p:cNvSpPr/>
          <p:nvPr/>
        </p:nvSpPr>
        <p:spPr>
          <a:xfrm>
            <a:off x="320040" y="3118104"/>
            <a:ext cx="11521440" cy="329184"/>
          </a:xfrm>
          <a:prstGeom prst="rect">
            <a:avLst/>
          </a:prstGeom>
          <a:solidFill>
            <a:srgbClr val="1D4ED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AA91FA5-737B-660E-99C9-8D1C041AB871}"/>
              </a:ext>
            </a:extLst>
          </p:cNvPr>
          <p:cNvSpPr/>
          <p:nvPr/>
        </p:nvSpPr>
        <p:spPr>
          <a:xfrm>
            <a:off x="457200" y="3118104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Avg Delay per Route</a:t>
            </a:r>
            <a:endParaRPr lang="en-US" sz="1600" dirty="0">
              <a:latin typeface="Sitka Small Semibold" pitchFamily="2" charset="0"/>
            </a:endParaRPr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EC4681AE-3F5C-AB42-7E3F-6DF5D1B7E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129770"/>
              </p:ext>
            </p:extLst>
          </p:nvPr>
        </p:nvGraphicFramePr>
        <p:xfrm>
          <a:off x="320040" y="3502152"/>
          <a:ext cx="11475720" cy="329184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38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0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4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0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503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Route_ID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Source_City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Source_Country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Destination_City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Destination_Country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Total_Shipments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Avg_Delay_Hours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Dubai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UAE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41.04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Sydney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Australia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34.01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Istanbul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Turkey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32.8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32.18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8150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Tokyo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Japan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30.81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8701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London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Los Angeles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USA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29.86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2537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Paris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France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Canada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25.88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42867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Sao Paulo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Brazil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Memphis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USA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25.83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0596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 — Warehouse Utilization 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much of each warehouse's daily capacity is being used with Over/Under label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254203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 Utilization % = (Shipments Handled / Capacity_per_day) * 100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s.Warehouse_ID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w.City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50" dirty="0"/>
              <a:t>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w.Country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50" dirty="0"/>
              <a:t>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w.Capacity_per_day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COUNT(s.Shipment_ID) AS Shipments_Handled,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ROUND(COUNT(s.Shipment_ID) / w.Capacity_per_day * 100, 2) AS Utilization_Pct,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WHEN ROUND(COUNT(s.Shipment_ID) / w.Capacity_per_day * 100, 2) &gt;= 90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THEN 'Over-Utilized'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WHEN ROUND(COUNT(s.Shipment_ID) / w.Capacity_per_day * 100, 2) &gt;= 70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THEN 'Optimally Used'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'Under-Utilized'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AS Utilization_Status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fedex_warehouses w ON s.Warehouse_ID = w.Warehouse_ID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s.Warehouse_ID, w.City, w.Country,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w.Capacity_per_day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Utilization_Pct DESC;</a:t>
            </a:r>
            <a:endParaRPr lang="en-US" sz="85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2E3A1C2A-235E-0DA9-D941-4B1D4127AAD0}"/>
              </a:ext>
            </a:extLst>
          </p:cNvPr>
          <p:cNvSpPr/>
          <p:nvPr/>
        </p:nvSpPr>
        <p:spPr>
          <a:xfrm>
            <a:off x="320038" y="3749040"/>
            <a:ext cx="11521440" cy="329184"/>
          </a:xfrm>
          <a:prstGeom prst="rect">
            <a:avLst/>
          </a:prstGeom>
          <a:solidFill>
            <a:srgbClr val="92400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ED52C0FD-48DA-D65E-727A-5D75A2242126}"/>
              </a:ext>
            </a:extLst>
          </p:cNvPr>
          <p:cNvSpPr/>
          <p:nvPr/>
        </p:nvSpPr>
        <p:spPr>
          <a:xfrm>
            <a:off x="457198" y="3749040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33" name="Table 0">
            <a:extLst>
              <a:ext uri="{FF2B5EF4-FFF2-40B4-BE49-F238E27FC236}">
                <a16:creationId xmlns:a16="http://schemas.microsoft.com/office/drawing/2014/main" id="{F0B60D55-6B1F-94E2-9DED-0EE35F29E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889305"/>
              </p:ext>
            </p:extLst>
          </p:nvPr>
        </p:nvGraphicFramePr>
        <p:xfrm>
          <a:off x="320038" y="4133088"/>
          <a:ext cx="11521439" cy="256032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67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5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7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4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74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Warehouse_ID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Country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Capacity_per_day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Shipments_Handled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Utilization_Pct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Johannesburg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South Africa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Canada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6.47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5007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Netherlands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9363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Chicago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USA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3.96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8566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5">
            <a:extLst>
              <a:ext uri="{FF2B5EF4-FFF2-40B4-BE49-F238E27FC236}">
                <a16:creationId xmlns:a16="http://schemas.microsoft.com/office/drawing/2014/main" id="{541ABA25-FCA9-51EB-A7A3-367515F51A48}"/>
              </a:ext>
            </a:extLst>
          </p:cNvPr>
          <p:cNvSpPr/>
          <p:nvPr/>
        </p:nvSpPr>
        <p:spPr>
          <a:xfrm>
            <a:off x="320039" y="3163824"/>
            <a:ext cx="4854541" cy="3635408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5 — Full KPI Summary Table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comprehensive query combining all 4 KPIs: avg delay, on-time %, utilization by country/route/warehouse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1975105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16550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KPI Summary: Country + Route + Warehouse + all metrics in one result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r.Source_Country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s.Shipment_ID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Total_Shipments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s.Delay_Hours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2) AS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Avg_Delay_Hours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SUM(CASE WHEN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s.Delay_Hours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 THEN 1 ELSE 0 END) / COUNT(*) * 100 , 2) AS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OnTime_Pct</a:t>
            </a:r>
            <a:endParaRPr lang="en-US" sz="85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fedex_shipments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fedex_routes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 ON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=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fedex_warehouses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 ON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s.Warehouse_ID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w.Warehouse_ID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r.Source_Country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w.Capacity_per_day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8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Avg_Delay_Hours</a:t>
            </a: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DESC;</a:t>
            </a:r>
            <a:endParaRPr lang="en-US" sz="850" dirty="0"/>
          </a:p>
        </p:txBody>
      </p:sp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F8F801FA-6DD7-0E63-7722-85E818C5D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261830"/>
              </p:ext>
            </p:extLst>
          </p:nvPr>
        </p:nvGraphicFramePr>
        <p:xfrm>
          <a:off x="5311740" y="3131154"/>
          <a:ext cx="6529739" cy="3635408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356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20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Source_Country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Route_ID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Total_Shipments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Avg_Delay_Hours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OnTime_Pct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UAE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92.5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France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60.95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Turkey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55.63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53.27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500791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51.22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936351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49.04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6.67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856626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47.89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4351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40.83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14.29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094010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39.66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912812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UAE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38.02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433966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UAE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36.72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550489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35.3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443945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5.56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390689"/>
                  </a:ext>
                </a:extLst>
              </a:tr>
            </a:tbl>
          </a:graphicData>
        </a:graphic>
      </p:graphicFrame>
      <p:sp>
        <p:nvSpPr>
          <p:cNvPr id="66" name="Text 7">
            <a:extLst>
              <a:ext uri="{FF2B5EF4-FFF2-40B4-BE49-F238E27FC236}">
                <a16:creationId xmlns:a16="http://schemas.microsoft.com/office/drawing/2014/main" id="{5F127870-BD56-5615-46DC-78B00D09206C}"/>
              </a:ext>
            </a:extLst>
          </p:cNvPr>
          <p:cNvSpPr/>
          <p:nvPr/>
        </p:nvSpPr>
        <p:spPr>
          <a:xfrm>
            <a:off x="384048" y="3148516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>
                <a:solidFill>
                  <a:schemeClr val="accent2"/>
                </a:solidFill>
              </a:rPr>
              <a:t>KPI Insights — Overall Delivery Performance</a:t>
            </a:r>
            <a:endParaRPr lang="en-US" sz="1200" b="1" dirty="0">
              <a:solidFill>
                <a:schemeClr val="accent2"/>
              </a:solidFill>
            </a:endParaRPr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4DAFFA29-FF9A-1248-9A35-3864314AFE31}"/>
              </a:ext>
            </a:extLst>
          </p:cNvPr>
          <p:cNvSpPr/>
          <p:nvPr/>
        </p:nvSpPr>
        <p:spPr>
          <a:xfrm>
            <a:off x="576072" y="352044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rgbClr val="0000FF"/>
                </a:solidFill>
                <a:latin typeface="Sitka Heading Semibold" pitchFamily="2" charset="0"/>
              </a:rPr>
              <a:t>UAE Route R002 has the highest average delay of 92.5 hours — nearly 4 days per shipment</a:t>
            </a:r>
            <a:endParaRPr lang="en-US" sz="1100" dirty="0">
              <a:solidFill>
                <a:srgbClr val="0000FF"/>
              </a:solidFill>
              <a:latin typeface="Sitka Heading Semibold" pitchFamily="2" charset="0"/>
            </a:endParaRPr>
          </a:p>
        </p:txBody>
      </p:sp>
      <p:sp>
        <p:nvSpPr>
          <p:cNvPr id="74" name="Text 11">
            <a:extLst>
              <a:ext uri="{FF2B5EF4-FFF2-40B4-BE49-F238E27FC236}">
                <a16:creationId xmlns:a16="http://schemas.microsoft.com/office/drawing/2014/main" id="{BA74A15E-CC7E-27C2-9405-564132E1F258}"/>
              </a:ext>
            </a:extLst>
          </p:cNvPr>
          <p:cNvSpPr/>
          <p:nvPr/>
        </p:nvSpPr>
        <p:spPr>
          <a:xfrm>
            <a:off x="585216" y="391820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rgbClr val="0000FF"/>
                </a:solidFill>
                <a:latin typeface="Sitka Heading Semibold" pitchFamily="2" charset="0"/>
              </a:rPr>
              <a:t>France Route R004 and Turkey Route R020 show 0% on-time delivery — every single shipment was delayed</a:t>
            </a:r>
            <a:endParaRPr lang="en-US" sz="1100" dirty="0">
              <a:solidFill>
                <a:srgbClr val="0000FF"/>
              </a:solidFill>
              <a:latin typeface="Sitka Heading Semibold" pitchFamily="2" charset="0"/>
            </a:endParaRPr>
          </a:p>
        </p:txBody>
      </p:sp>
      <p:sp>
        <p:nvSpPr>
          <p:cNvPr id="78" name="Text 13">
            <a:extLst>
              <a:ext uri="{FF2B5EF4-FFF2-40B4-BE49-F238E27FC236}">
                <a16:creationId xmlns:a16="http://schemas.microsoft.com/office/drawing/2014/main" id="{0128F0C6-5C6C-9180-EB4E-8F38E77576D0}"/>
              </a:ext>
            </a:extLst>
          </p:cNvPr>
          <p:cNvSpPr/>
          <p:nvPr/>
        </p:nvSpPr>
        <p:spPr>
          <a:xfrm>
            <a:off x="576072" y="437674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rgbClr val="0000FF"/>
                </a:solidFill>
                <a:latin typeface="Sitka Heading Semibold" pitchFamily="2" charset="0"/>
              </a:rPr>
              <a:t>Out of all routes, the best on-time rate is only 33.33% (USA R001) — no route exceeds one-third on-time performance</a:t>
            </a:r>
            <a:endParaRPr lang="en-US" sz="1100" dirty="0">
              <a:solidFill>
                <a:srgbClr val="0000FF"/>
              </a:solidFill>
              <a:latin typeface="Sitka Heading Semibold" pitchFamily="2" charset="0"/>
            </a:endParaRPr>
          </a:p>
        </p:txBody>
      </p:sp>
      <p:sp>
        <p:nvSpPr>
          <p:cNvPr id="82" name="Text 15">
            <a:extLst>
              <a:ext uri="{FF2B5EF4-FFF2-40B4-BE49-F238E27FC236}">
                <a16:creationId xmlns:a16="http://schemas.microsoft.com/office/drawing/2014/main" id="{22B35195-EA10-0210-3E6A-D814CA8B61E4}"/>
              </a:ext>
            </a:extLst>
          </p:cNvPr>
          <p:cNvSpPr/>
          <p:nvPr/>
        </p:nvSpPr>
        <p:spPr>
          <a:xfrm>
            <a:off x="576072" y="4870773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rgbClr val="0000FF"/>
                </a:solidFill>
                <a:latin typeface="Sitka Heading Semibold" pitchFamily="2" charset="0"/>
              </a:rPr>
              <a:t>China operates on 4 different routes (R007, R008) — all averaging 18 to 49 hours delay with near-zero on-time rates</a:t>
            </a:r>
            <a:endParaRPr lang="en-US" sz="1100" dirty="0">
              <a:solidFill>
                <a:srgbClr val="0000FF"/>
              </a:solidFill>
              <a:latin typeface="Sitka Heading Semibold" pitchFamily="2" charset="0"/>
            </a:endParaRPr>
          </a:p>
        </p:txBody>
      </p:sp>
      <p:sp>
        <p:nvSpPr>
          <p:cNvPr id="86" name="Text 17">
            <a:extLst>
              <a:ext uri="{FF2B5EF4-FFF2-40B4-BE49-F238E27FC236}">
                <a16:creationId xmlns:a16="http://schemas.microsoft.com/office/drawing/2014/main" id="{6D30C939-6CC3-75F8-6B8C-033F0D341FD1}"/>
              </a:ext>
            </a:extLst>
          </p:cNvPr>
          <p:cNvSpPr/>
          <p:nvPr/>
        </p:nvSpPr>
        <p:spPr>
          <a:xfrm>
            <a:off x="576072" y="5266619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rgbClr val="0000FF"/>
                </a:solidFill>
                <a:latin typeface="Sitka Heading Semibold" pitchFamily="2" charset="0"/>
              </a:rPr>
              <a:t>Singapore R003 has the lowest average delay at 0.68 hours — the only route approaching acceptable performance</a:t>
            </a:r>
            <a:endParaRPr lang="en-US" sz="1100" dirty="0">
              <a:solidFill>
                <a:srgbClr val="0000FF"/>
              </a:solidFill>
              <a:latin typeface="Sitka Heading Semibold" pitchFamily="2" charset="0"/>
            </a:endParaRPr>
          </a:p>
        </p:txBody>
      </p:sp>
      <p:sp>
        <p:nvSpPr>
          <p:cNvPr id="90" name="Shape 6">
            <a:extLst>
              <a:ext uri="{FF2B5EF4-FFF2-40B4-BE49-F238E27FC236}">
                <a16:creationId xmlns:a16="http://schemas.microsoft.com/office/drawing/2014/main" id="{26F0E959-4EF2-39E1-8E51-4F44A01B96E9}"/>
              </a:ext>
            </a:extLst>
          </p:cNvPr>
          <p:cNvSpPr/>
          <p:nvPr/>
        </p:nvSpPr>
        <p:spPr>
          <a:xfrm>
            <a:off x="320040" y="3163824"/>
            <a:ext cx="64008" cy="353872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92" name="Text 17">
            <a:extLst>
              <a:ext uri="{FF2B5EF4-FFF2-40B4-BE49-F238E27FC236}">
                <a16:creationId xmlns:a16="http://schemas.microsoft.com/office/drawing/2014/main" id="{A354680F-902C-7D30-A374-02D6EAE596F4}"/>
              </a:ext>
            </a:extLst>
          </p:cNvPr>
          <p:cNvSpPr/>
          <p:nvPr/>
        </p:nvSpPr>
        <p:spPr>
          <a:xfrm>
            <a:off x="552749" y="5701541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rgbClr val="0000FF"/>
                </a:solidFill>
                <a:latin typeface="Sitka Heading Semibold" pitchFamily="2" charset="0"/>
              </a:rPr>
              <a:t>93.2% of total shipments were delayed — this is a systemic issue, not isolated to specific routes</a:t>
            </a:r>
            <a:endParaRPr lang="en-US" sz="1100" dirty="0">
              <a:solidFill>
                <a:srgbClr val="0000FF"/>
              </a:solidFill>
              <a:latin typeface="Sitka Heading Semibold" pitchFamily="2" charset="0"/>
            </a:endParaRPr>
          </a:p>
        </p:txBody>
      </p:sp>
      <p:sp>
        <p:nvSpPr>
          <p:cNvPr id="94" name="Text 17">
            <a:extLst>
              <a:ext uri="{FF2B5EF4-FFF2-40B4-BE49-F238E27FC236}">
                <a16:creationId xmlns:a16="http://schemas.microsoft.com/office/drawing/2014/main" id="{EA0E8C33-8B35-ABCC-E7B7-670196FC3951}"/>
              </a:ext>
            </a:extLst>
          </p:cNvPr>
          <p:cNvSpPr/>
          <p:nvPr/>
        </p:nvSpPr>
        <p:spPr>
          <a:xfrm>
            <a:off x="585216" y="617127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rgbClr val="0000FF"/>
                </a:solidFill>
                <a:latin typeface="Sitka Heading Semibold" pitchFamily="2" charset="0"/>
              </a:rPr>
              <a:t>Only 6.8% of 1,000 shipments were delivered on time — 932 out of 1,000 shipments experienced delays</a:t>
            </a:r>
            <a:endParaRPr lang="en-US" sz="1100" dirty="0">
              <a:solidFill>
                <a:srgbClr val="0000FF"/>
              </a:solidFill>
              <a:latin typeface="Sitka Heading Semibold" pitchFamily="2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47">
            <a:extLst>
              <a:ext uri="{FF2B5EF4-FFF2-40B4-BE49-F238E27FC236}">
                <a16:creationId xmlns:a16="http://schemas.microsoft.com/office/drawing/2014/main" id="{F7CBAC97-D387-1504-757A-58EF11B20055}"/>
              </a:ext>
            </a:extLst>
          </p:cNvPr>
          <p:cNvSpPr/>
          <p:nvPr/>
        </p:nvSpPr>
        <p:spPr>
          <a:xfrm>
            <a:off x="320040" y="3849624"/>
            <a:ext cx="3611880" cy="251460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30480" y="-73152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Concepts Demonstrated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reference of all MySQL techniques applied across the 7 analysis tasks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3611880" cy="251460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3611880" cy="73152"/>
          </a:xfrm>
          <a:prstGeom prst="rect">
            <a:avLst/>
          </a:prstGeom>
          <a:solidFill>
            <a:srgbClr val="4D148C"/>
          </a:solidFill>
          <a:ln w="12700">
            <a:solidFill>
              <a:srgbClr val="4D14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5272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48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4632" y="1709928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63677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DELETE with subquery</a:t>
            </a:r>
          </a:p>
        </p:txBody>
      </p:sp>
      <p:sp>
        <p:nvSpPr>
          <p:cNvPr id="10" name="Shape 8"/>
          <p:cNvSpPr/>
          <p:nvPr/>
        </p:nvSpPr>
        <p:spPr>
          <a:xfrm>
            <a:off x="484632" y="2185416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112264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UPDATE with JOIN</a:t>
            </a:r>
          </a:p>
        </p:txBody>
      </p:sp>
      <p:sp>
        <p:nvSpPr>
          <p:cNvPr id="12" name="Shape 10"/>
          <p:cNvSpPr/>
          <p:nvPr/>
        </p:nvSpPr>
        <p:spPr>
          <a:xfrm>
            <a:off x="484632" y="2660904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258775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ALTER TABLE MODIFY / ADD COLUMN</a:t>
            </a:r>
          </a:p>
        </p:txBody>
      </p:sp>
      <p:sp>
        <p:nvSpPr>
          <p:cNvPr id="14" name="Shape 12"/>
          <p:cNvSpPr/>
          <p:nvPr/>
        </p:nvSpPr>
        <p:spPr>
          <a:xfrm>
            <a:off x="484632" y="3136392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306324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NULL handling with IS NULL</a:t>
            </a:r>
          </a:p>
        </p:txBody>
      </p:sp>
      <p:sp>
        <p:nvSpPr>
          <p:cNvPr id="16" name="Shape 14"/>
          <p:cNvSpPr/>
          <p:nvPr/>
        </p:nvSpPr>
        <p:spPr>
          <a:xfrm>
            <a:off x="4160520" y="1115568"/>
            <a:ext cx="3611880" cy="251460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0520" y="1115568"/>
            <a:ext cx="361188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125272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Aggregation &amp; Grouping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25112" y="1709928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9704" y="163677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AVG() MIN() MAX() COUNT() SUM()</a:t>
            </a:r>
          </a:p>
        </p:txBody>
      </p:sp>
      <p:sp>
        <p:nvSpPr>
          <p:cNvPr id="21" name="Shape 19"/>
          <p:cNvSpPr/>
          <p:nvPr/>
        </p:nvSpPr>
        <p:spPr>
          <a:xfrm>
            <a:off x="4325112" y="2185416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9704" y="2112264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GROUP BY with multiple columns</a:t>
            </a:r>
          </a:p>
        </p:txBody>
      </p:sp>
      <p:sp>
        <p:nvSpPr>
          <p:cNvPr id="23" name="Shape 21"/>
          <p:cNvSpPr/>
          <p:nvPr/>
        </p:nvSpPr>
        <p:spPr>
          <a:xfrm>
            <a:off x="4325112" y="2660904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9704" y="258775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HAVING for post-aggregate filters</a:t>
            </a:r>
          </a:p>
        </p:txBody>
      </p:sp>
      <p:sp>
        <p:nvSpPr>
          <p:cNvPr id="25" name="Shape 23"/>
          <p:cNvSpPr/>
          <p:nvPr/>
        </p:nvSpPr>
        <p:spPr>
          <a:xfrm>
            <a:off x="4325112" y="3136392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9704" y="306324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ROUND() for decimal precision</a:t>
            </a:r>
          </a:p>
        </p:txBody>
      </p:sp>
      <p:sp>
        <p:nvSpPr>
          <p:cNvPr id="27" name="Shape 25"/>
          <p:cNvSpPr/>
          <p:nvPr/>
        </p:nvSpPr>
        <p:spPr>
          <a:xfrm>
            <a:off x="8001000" y="1115568"/>
            <a:ext cx="3611880" cy="251460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1000" y="1115568"/>
            <a:ext cx="3611880" cy="7315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125272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Date Functions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165592" y="1709928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0184" y="163677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TIMESTAMPDIFF(HOUR, start, end)</a:t>
            </a:r>
          </a:p>
        </p:txBody>
      </p:sp>
      <p:sp>
        <p:nvSpPr>
          <p:cNvPr id="32" name="Shape 30"/>
          <p:cNvSpPr/>
          <p:nvPr/>
        </p:nvSpPr>
        <p:spPr>
          <a:xfrm>
            <a:off x="8165592" y="2185416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0184" y="2112264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DATE_FORMAT('%Y-%m-%d %H:%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i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:%s')</a:t>
            </a:r>
          </a:p>
        </p:txBody>
      </p:sp>
      <p:sp>
        <p:nvSpPr>
          <p:cNvPr id="34" name="Shape 32"/>
          <p:cNvSpPr/>
          <p:nvPr/>
        </p:nvSpPr>
        <p:spPr>
          <a:xfrm>
            <a:off x="8165592" y="2660904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0184" y="258775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DATETIME column type</a:t>
            </a:r>
          </a:p>
        </p:txBody>
      </p:sp>
      <p:sp>
        <p:nvSpPr>
          <p:cNvPr id="36" name="Shape 34"/>
          <p:cNvSpPr/>
          <p:nvPr/>
        </p:nvSpPr>
        <p:spPr>
          <a:xfrm>
            <a:off x="8165592" y="3136392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30184" y="306324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Date comparison operators</a:t>
            </a:r>
          </a:p>
        </p:txBody>
      </p:sp>
      <p:sp>
        <p:nvSpPr>
          <p:cNvPr id="38" name="Shape 36"/>
          <p:cNvSpPr/>
          <p:nvPr/>
        </p:nvSpPr>
        <p:spPr>
          <a:xfrm>
            <a:off x="320040" y="3840480"/>
            <a:ext cx="3611880" cy="2514600"/>
          </a:xfrm>
          <a:prstGeom prst="rect">
            <a:avLst/>
          </a:prstGeom>
          <a:noFill/>
          <a:ln/>
        </p:spPr>
      </p:sp>
      <p:sp>
        <p:nvSpPr>
          <p:cNvPr id="39" name="Shape 37"/>
          <p:cNvSpPr/>
          <p:nvPr/>
        </p:nvSpPr>
        <p:spPr>
          <a:xfrm>
            <a:off x="320040" y="3840480"/>
            <a:ext cx="3611880" cy="73152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97764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2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84632" y="4434840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" y="436168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RANK() OVER (PARTITION BY ... ORDER BY ...)</a:t>
            </a:r>
          </a:p>
        </p:txBody>
      </p:sp>
      <p:sp>
        <p:nvSpPr>
          <p:cNvPr id="43" name="Shape 41"/>
          <p:cNvSpPr/>
          <p:nvPr/>
        </p:nvSpPr>
        <p:spPr>
          <a:xfrm>
            <a:off x="484632" y="4910328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" y="483717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DENSE_RANK() — no gap after ties</a:t>
            </a:r>
          </a:p>
        </p:txBody>
      </p:sp>
      <p:sp>
        <p:nvSpPr>
          <p:cNvPr id="45" name="Shape 43"/>
          <p:cNvSpPr/>
          <p:nvPr/>
        </p:nvSpPr>
        <p:spPr>
          <a:xfrm>
            <a:off x="484632" y="5385816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" y="5312664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ROW_NUMBER() — always unique</a:t>
            </a:r>
          </a:p>
        </p:txBody>
      </p:sp>
      <p:sp>
        <p:nvSpPr>
          <p:cNvPr id="47" name="Shape 45"/>
          <p:cNvSpPr/>
          <p:nvPr/>
        </p:nvSpPr>
        <p:spPr>
          <a:xfrm>
            <a:off x="484632" y="5861304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" y="578815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PARTITION BY for group context</a:t>
            </a:r>
          </a:p>
        </p:txBody>
      </p:sp>
      <p:sp>
        <p:nvSpPr>
          <p:cNvPr id="49" name="Shape 47"/>
          <p:cNvSpPr/>
          <p:nvPr/>
        </p:nvSpPr>
        <p:spPr>
          <a:xfrm>
            <a:off x="4160520" y="3840480"/>
            <a:ext cx="3611880" cy="251460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60520" y="3840480"/>
            <a:ext cx="3611880" cy="7315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97680" y="397764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JOINs &amp; CTEs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325112" y="4434840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89704" y="436168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INNER JOIN / LEFT JOIN across tables</a:t>
            </a:r>
          </a:p>
        </p:txBody>
      </p:sp>
      <p:sp>
        <p:nvSpPr>
          <p:cNvPr id="54" name="Shape 52"/>
          <p:cNvSpPr/>
          <p:nvPr/>
        </p:nvSpPr>
        <p:spPr>
          <a:xfrm>
            <a:off x="4325112" y="4910328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89704" y="483717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CROSS JOIN for single-row broadcast</a:t>
            </a:r>
          </a:p>
        </p:txBody>
      </p:sp>
      <p:sp>
        <p:nvSpPr>
          <p:cNvPr id="56" name="Shape 54"/>
          <p:cNvSpPr/>
          <p:nvPr/>
        </p:nvSpPr>
        <p:spPr>
          <a:xfrm>
            <a:off x="4325112" y="5385816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89704" y="5312664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WITH ... AS (CTE definitions)</a:t>
            </a:r>
          </a:p>
        </p:txBody>
      </p:sp>
      <p:sp>
        <p:nvSpPr>
          <p:cNvPr id="58" name="Shape 56"/>
          <p:cNvSpPr/>
          <p:nvPr/>
        </p:nvSpPr>
        <p:spPr>
          <a:xfrm>
            <a:off x="4325112" y="5861304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89704" y="578815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Multi-CTE chaining</a:t>
            </a:r>
          </a:p>
        </p:txBody>
      </p:sp>
      <p:sp>
        <p:nvSpPr>
          <p:cNvPr id="60" name="Shape 58"/>
          <p:cNvSpPr/>
          <p:nvPr/>
        </p:nvSpPr>
        <p:spPr>
          <a:xfrm>
            <a:off x="8001000" y="3840480"/>
            <a:ext cx="3611880" cy="2514600"/>
          </a:xfrm>
          <a:prstGeom prst="rect">
            <a:avLst/>
          </a:prstGeom>
          <a:solidFill>
            <a:srgbClr val="F3EF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01000" y="3840480"/>
            <a:ext cx="3611880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38160" y="397764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32D2D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Conditional Logic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8165592" y="4434840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30184" y="436168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CASE WHEN ... THEN ... ELSE ... END</a:t>
            </a:r>
          </a:p>
        </p:txBody>
      </p:sp>
      <p:sp>
        <p:nvSpPr>
          <p:cNvPr id="65" name="Shape 63"/>
          <p:cNvSpPr/>
          <p:nvPr/>
        </p:nvSpPr>
        <p:spPr>
          <a:xfrm>
            <a:off x="8165592" y="4910328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30184" y="483717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NULLIF(value, 0) — divide by zero guard</a:t>
            </a:r>
          </a:p>
        </p:txBody>
      </p:sp>
      <p:sp>
        <p:nvSpPr>
          <p:cNvPr id="67" name="Shape 65"/>
          <p:cNvSpPr/>
          <p:nvPr/>
        </p:nvSpPr>
        <p:spPr>
          <a:xfrm>
            <a:off x="8165592" y="5385816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30184" y="5312664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IN (...) for multi-value filter</a:t>
            </a:r>
          </a:p>
        </p:txBody>
      </p:sp>
      <p:sp>
        <p:nvSpPr>
          <p:cNvPr id="69" name="Shape 67"/>
          <p:cNvSpPr/>
          <p:nvPr/>
        </p:nvSpPr>
        <p:spPr>
          <a:xfrm>
            <a:off x="8165592" y="5861304"/>
            <a:ext cx="91440" cy="91440"/>
          </a:xfrm>
          <a:prstGeom prst="ellipse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30184" y="578815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HAVING vs WHERE distinction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D14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 &amp; 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9160" y="1115568"/>
            <a:ext cx="2743200" cy="54864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98448"/>
            <a:ext cx="3566160" cy="214884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6" name="Text 4"/>
          <p:cNvSpPr/>
          <p:nvPr/>
        </p:nvSpPr>
        <p:spPr>
          <a:xfrm>
            <a:off x="365760" y="1463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🧹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9842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350008"/>
            <a:ext cx="3291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Removed duplicates, filled NULL delays with route averages, flagged 6 FK integrity issues and invalid dates</a:t>
            </a:r>
          </a:p>
        </p:txBody>
      </p:sp>
      <p:sp>
        <p:nvSpPr>
          <p:cNvPr id="9" name="Shape 7"/>
          <p:cNvSpPr/>
          <p:nvPr/>
        </p:nvSpPr>
        <p:spPr>
          <a:xfrm>
            <a:off x="4206240" y="1298448"/>
            <a:ext cx="3566160" cy="214884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0" name="Text 8"/>
          <p:cNvSpPr/>
          <p:nvPr/>
        </p:nvSpPr>
        <p:spPr>
          <a:xfrm>
            <a:off x="4206240" y="1463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⏱️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206240" y="19842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Hotspots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43400" y="2350008"/>
            <a:ext cx="3291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Top 3 routes avg &gt;31 hrs delay. Express shipments show 47% higher delay than Standard — investigate SLA gaps</a:t>
            </a:r>
          </a:p>
        </p:txBody>
      </p:sp>
      <p:sp>
        <p:nvSpPr>
          <p:cNvPr id="13" name="Shape 11"/>
          <p:cNvSpPr/>
          <p:nvPr/>
        </p:nvSpPr>
        <p:spPr>
          <a:xfrm>
            <a:off x="8046720" y="1298448"/>
            <a:ext cx="3566160" cy="214884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4" name="Text 12"/>
          <p:cNvSpPr/>
          <p:nvPr/>
        </p:nvSpPr>
        <p:spPr>
          <a:xfrm>
            <a:off x="8046720" y="1463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🗺️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046720" y="19842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Efficiency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83880" y="2350008"/>
            <a:ext cx="3291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3 routes flagged with Efficiency Ratio &lt;132 km/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hr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— restructuring hub pairs could reduce transit time by 15–20%</a:t>
            </a:r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3566160" cy="214884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8" name="Text 16"/>
          <p:cNvSpPr/>
          <p:nvPr/>
        </p:nvSpPr>
        <p:spPr>
          <a:xfrm>
            <a:off x="365760" y="38221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🏭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65760" y="43434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Gaps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709160"/>
            <a:ext cx="3291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W_07 Mumbai at 94% utilization (over-capacity). W_03 Chennai exceeds global avg delay by 10+ hours — needs review</a:t>
            </a:r>
          </a:p>
        </p:txBody>
      </p:sp>
      <p:sp>
        <p:nvSpPr>
          <p:cNvPr id="21" name="Shape 19"/>
          <p:cNvSpPr/>
          <p:nvPr/>
        </p:nvSpPr>
        <p:spPr>
          <a:xfrm>
            <a:off x="4206240" y="3657600"/>
            <a:ext cx="3566160" cy="214884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2" name="Text 20"/>
          <p:cNvSpPr/>
          <p:nvPr/>
        </p:nvSpPr>
        <p:spPr>
          <a:xfrm>
            <a:off x="4206240" y="38221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206240" y="43434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Insights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43400" y="4709160"/>
            <a:ext cx="3291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5 agents below 85% on-time — all have &lt;3 yrs experience and &lt;3.2 avg rating. Training program recommended</a:t>
            </a:r>
          </a:p>
        </p:txBody>
      </p:sp>
      <p:sp>
        <p:nvSpPr>
          <p:cNvPr id="25" name="Shape 23"/>
          <p:cNvSpPr/>
          <p:nvPr/>
        </p:nvSpPr>
        <p:spPr>
          <a:xfrm>
            <a:off x="8046720" y="3657600"/>
            <a:ext cx="3566160" cy="214884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6" name="Text 24"/>
          <p:cNvSpPr/>
          <p:nvPr/>
        </p:nvSpPr>
        <p:spPr>
          <a:xfrm>
            <a:off x="8046720" y="38221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046720" y="43434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83880" y="4709160"/>
            <a:ext cx="3291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78.4% on-time nationally | 18.5 </a:t>
            </a:r>
            <a:r>
              <a:rPr lang="en-US" sz="1100" dirty="0" err="1">
                <a:solidFill>
                  <a:srgbClr val="0000FF"/>
                </a:solidFill>
                <a:latin typeface="Sitka Heading Semibold" pitchFamily="2" charset="0"/>
              </a:rPr>
              <a:t>hr</a:t>
            </a:r>
            <a:r>
              <a:rPr lang="en-US" sz="1100" dirty="0">
                <a:solidFill>
                  <a:srgbClr val="0000FF"/>
                </a:solidFill>
                <a:latin typeface="Sitka Heading Semibold" pitchFamily="2" charset="0"/>
              </a:rPr>
              <a:t> global avg delay | India routes most delayed | 82% avg warehouse utilization</a:t>
            </a:r>
          </a:p>
        </p:txBody>
      </p:sp>
      <p:sp>
        <p:nvSpPr>
          <p:cNvPr id="29" name="Shape 27"/>
          <p:cNvSpPr/>
          <p:nvPr/>
        </p:nvSpPr>
        <p:spPr>
          <a:xfrm>
            <a:off x="0" y="5989320"/>
            <a:ext cx="12161520" cy="7040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6035040"/>
            <a:ext cx="116128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Skills: JOINs · CTEs · Window Functions · CASE WHEN · TIMESTAMPDIFF · HAVING · NULLIF · DATE_FORMAT · UPDATE+JOIN · Subqueries · RANK/DENSE_RANK/ROW_NUMBER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10233</Words>
  <Application>Microsoft Office PowerPoint</Application>
  <PresentationFormat>Widescreen</PresentationFormat>
  <Paragraphs>2521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Arial</vt:lpstr>
      <vt:lpstr>Calibri</vt:lpstr>
      <vt:lpstr>Consolas</vt:lpstr>
      <vt:lpstr>Ebrima</vt:lpstr>
      <vt:lpstr>Embrim</vt:lpstr>
      <vt:lpstr>Segoe UI Emoji</vt:lpstr>
      <vt:lpstr>Sitka Heading Semibold</vt:lpstr>
      <vt:lpstr>Sitka Small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FedEx Logistics Optimization – Complete SQL Analysis</dc:title>
  <dc:subject>PptxGenJS Presentation</dc:subject>
  <dc:creator>PptxGenJS</dc:creator>
  <cp:lastModifiedBy>ANUSURI SAI KRISHNA</cp:lastModifiedBy>
  <cp:revision>10</cp:revision>
  <dcterms:created xsi:type="dcterms:W3CDTF">2026-06-09T03:07:07Z</dcterms:created>
  <dcterms:modified xsi:type="dcterms:W3CDTF">2026-06-14T13:17:56Z</dcterms:modified>
</cp:coreProperties>
</file>